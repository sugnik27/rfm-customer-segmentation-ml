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35"/>
  </p:notesMasterIdLst>
  <p:sldIdLst>
    <p:sldId id="256" r:id="rId2"/>
    <p:sldId id="747" r:id="rId3"/>
    <p:sldId id="714" r:id="rId4"/>
    <p:sldId id="674" r:id="rId5"/>
    <p:sldId id="713" r:id="rId6"/>
    <p:sldId id="720" r:id="rId7"/>
    <p:sldId id="737" r:id="rId8"/>
    <p:sldId id="721" r:id="rId9"/>
    <p:sldId id="738" r:id="rId10"/>
    <p:sldId id="722" r:id="rId11"/>
    <p:sldId id="739" r:id="rId12"/>
    <p:sldId id="740" r:id="rId13"/>
    <p:sldId id="741" r:id="rId14"/>
    <p:sldId id="742" r:id="rId15"/>
    <p:sldId id="723" r:id="rId16"/>
    <p:sldId id="725" r:id="rId17"/>
    <p:sldId id="726" r:id="rId18"/>
    <p:sldId id="743" r:id="rId19"/>
    <p:sldId id="727" r:id="rId20"/>
    <p:sldId id="728" r:id="rId21"/>
    <p:sldId id="744" r:id="rId22"/>
    <p:sldId id="729" r:id="rId23"/>
    <p:sldId id="730" r:id="rId24"/>
    <p:sldId id="745" r:id="rId25"/>
    <p:sldId id="731" r:id="rId26"/>
    <p:sldId id="732" r:id="rId27"/>
    <p:sldId id="733" r:id="rId28"/>
    <p:sldId id="734" r:id="rId29"/>
    <p:sldId id="746" r:id="rId30"/>
    <p:sldId id="735" r:id="rId31"/>
    <p:sldId id="736" r:id="rId32"/>
    <p:sldId id="711" r:id="rId33"/>
    <p:sldId id="30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71" d="100"/>
          <a:sy n="71" d="100"/>
        </p:scale>
        <p:origin x="744" y="7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16:01:57.957"/>
    </inkml:context>
    <inkml:brush xml:id="br0">
      <inkml:brushProperty name="width" value="0.025" units="cm"/>
      <inkml:brushProperty name="height" value="0.025"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01-03-2026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28058329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customXml" Target="../ink/ink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0" y="3023239"/>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E-commerce Customer Segmentation &amp; Prediction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26FF4-B53C-D8D1-86BE-9BFAE350BBE0}"/>
              </a:ext>
            </a:extLst>
          </p:cNvPr>
          <p:cNvSpPr>
            <a:spLocks noGrp="1"/>
          </p:cNvSpPr>
          <p:nvPr>
            <p:ph type="title"/>
          </p:nvPr>
        </p:nvSpPr>
        <p:spPr/>
        <p:txBody>
          <a:bodyPr/>
          <a:lstStyle/>
          <a:p>
            <a:r>
              <a:rPr lang="en-IN" dirty="0"/>
              <a:t>Why did I choose this Topic?</a:t>
            </a:r>
          </a:p>
        </p:txBody>
      </p:sp>
      <p:sp>
        <p:nvSpPr>
          <p:cNvPr id="3" name="Content Placeholder 2">
            <a:extLst>
              <a:ext uri="{FF2B5EF4-FFF2-40B4-BE49-F238E27FC236}">
                <a16:creationId xmlns:a16="http://schemas.microsoft.com/office/drawing/2014/main" id="{0DD9E9CC-C1AC-CF84-D459-C48709FDA3F2}"/>
              </a:ext>
            </a:extLst>
          </p:cNvPr>
          <p:cNvSpPr>
            <a:spLocks noGrp="1"/>
          </p:cNvSpPr>
          <p:nvPr>
            <p:ph idx="1"/>
          </p:nvPr>
        </p:nvSpPr>
        <p:spPr>
          <a:xfrm>
            <a:off x="678884" y="1446475"/>
            <a:ext cx="10834234" cy="4398066"/>
          </a:xfrm>
        </p:spPr>
        <p:txBody>
          <a:bodyPr/>
          <a:lstStyle/>
          <a:p>
            <a:r>
              <a:rPr lang="en-GB" dirty="0"/>
              <a:t>E-commerce is one of the fastest growing industries globally — understanding customer behaviour is critical for business survival.</a:t>
            </a:r>
          </a:p>
          <a:p>
            <a:r>
              <a:rPr lang="en-GB" dirty="0"/>
              <a:t>RFM Analysis is a proven, industry-used technique that I wanted to implement end-to-end from raw data to deployment.</a:t>
            </a:r>
          </a:p>
          <a:p>
            <a:r>
              <a:rPr lang="en-GB" dirty="0"/>
              <a:t>Customer segmentation directly impacts revenue — retaining an existing customer is 5x cheaper than acquiring a new one</a:t>
            </a:r>
          </a:p>
          <a:p>
            <a:r>
              <a:rPr lang="en-GB" dirty="0"/>
              <a:t>I wanted to combine unsupervised and supervised ML in one project — clustering to discover segments, then classification to predict them in real time</a:t>
            </a:r>
          </a:p>
          <a:p>
            <a:endParaRPr lang="en-IN" dirty="0"/>
          </a:p>
        </p:txBody>
      </p:sp>
    </p:spTree>
    <p:extLst>
      <p:ext uri="{BB962C8B-B14F-4D97-AF65-F5344CB8AC3E}">
        <p14:creationId xmlns:p14="http://schemas.microsoft.com/office/powerpoint/2010/main" val="398909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78883" y="523777"/>
            <a:ext cx="10834234" cy="612775"/>
          </a:xfrm>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3" y="1332174"/>
            <a:ext cx="10834234" cy="4398066"/>
          </a:xfrm>
        </p:spPr>
        <p:txBody>
          <a:bodyPr>
            <a:normAutofit lnSpcReduction="10000"/>
          </a:bodyPr>
          <a:lstStyle/>
          <a:p>
            <a:pPr marL="0" lvl="0" indent="0">
              <a:buNone/>
            </a:pPr>
            <a:r>
              <a:rPr lang="en-US" dirty="0"/>
              <a:t>1.  Project Overview &amp; Objectives</a:t>
            </a:r>
          </a:p>
          <a:p>
            <a:pPr marL="0" lvl="0" indent="0">
              <a:buNone/>
            </a:pPr>
            <a:r>
              <a:rPr lang="en-US" dirty="0"/>
              <a:t>2.  Dataset Overview</a:t>
            </a:r>
          </a:p>
          <a:p>
            <a:pPr marL="0" lvl="0" indent="0">
              <a:buNone/>
            </a:pPr>
            <a:r>
              <a:rPr lang="en-US" dirty="0"/>
              <a:t>3.  Data Cleaning</a:t>
            </a:r>
          </a:p>
          <a:p>
            <a:pPr marL="0" lvl="0" indent="0">
              <a:buNone/>
            </a:pPr>
            <a:r>
              <a:rPr lang="en-US" dirty="0"/>
              <a:t>4.  Exploratory Data Analysis</a:t>
            </a:r>
          </a:p>
          <a:p>
            <a:pPr marL="0" lvl="0" indent="0">
              <a:buNone/>
            </a:pPr>
            <a:r>
              <a:rPr lang="en-US" dirty="0"/>
              <a:t>5.  RFM Feature Engineering</a:t>
            </a:r>
          </a:p>
          <a:p>
            <a:pPr marL="0" lvl="0" indent="0">
              <a:buNone/>
            </a:pPr>
            <a:r>
              <a:rPr lang="en-US" dirty="0"/>
              <a:t>6.  Customer Segmentation</a:t>
            </a:r>
          </a:p>
          <a:p>
            <a:pPr marL="0" lvl="0" indent="0">
              <a:buNone/>
            </a:pPr>
            <a:r>
              <a:rPr lang="en-US" dirty="0"/>
              <a:t>7.  Predictive Classification</a:t>
            </a:r>
          </a:p>
          <a:p>
            <a:pPr marL="0" lvl="0" indent="0">
              <a:buNone/>
            </a:pPr>
            <a:r>
              <a:rPr lang="en-US" dirty="0"/>
              <a:t>8.  Streamlit App &amp; Deployment</a:t>
            </a:r>
          </a:p>
          <a:p>
            <a:pPr marL="0" lvl="0" indent="0">
              <a:buNone/>
            </a:pPr>
            <a:r>
              <a:rPr lang="en-US" dirty="0"/>
              <a:t>9.  Conclusion &amp; Recommendations</a:t>
            </a:r>
          </a:p>
        </p:txBody>
      </p:sp>
    </p:spTree>
    <p:extLst>
      <p:ext uri="{BB962C8B-B14F-4D97-AF65-F5344CB8AC3E}">
        <p14:creationId xmlns:p14="http://schemas.microsoft.com/office/powerpoint/2010/main" val="19538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3" y="383858"/>
            <a:ext cx="10834234" cy="612775"/>
          </a:xfrm>
        </p:spPr>
        <p:txBody>
          <a:bodyPr/>
          <a:lstStyle/>
          <a:p>
            <a:r>
              <a:rPr lang="en-US" dirty="0"/>
              <a:t>Project Overview &amp; Objectives</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3" y="1094783"/>
            <a:ext cx="10834234" cy="4398066"/>
          </a:xfrm>
          <a:prstGeom prst="rect">
            <a:avLst/>
          </a:prstGeom>
        </p:spPr>
        <p:txBody>
          <a:bodyPr>
            <a:normAutofit fontScale="925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About the Project</a:t>
            </a:r>
          </a:p>
          <a:p>
            <a:pPr lvl="1"/>
            <a:r>
              <a:rPr lang="en-US" dirty="0"/>
              <a:t>UK-based e-commerce company with 541,909 transactions across 38 countries</a:t>
            </a:r>
          </a:p>
          <a:p>
            <a:pPr lvl="1"/>
            <a:r>
              <a:rPr lang="en-US" dirty="0"/>
              <a:t>Goal: Segment customers using RFM Analysis and predict segments for new customers</a:t>
            </a:r>
          </a:p>
          <a:p>
            <a:pPr lvl="0"/>
            <a:r>
              <a:rPr lang="en-US" b="1" dirty="0"/>
              <a:t>Objectives</a:t>
            </a:r>
          </a:p>
          <a:p>
            <a:pPr lvl="1"/>
            <a:r>
              <a:rPr lang="en-US" dirty="0"/>
              <a:t>Develop a customer segmentation model using unsupervised ML (KMeans)</a:t>
            </a:r>
          </a:p>
          <a:p>
            <a:pPr lvl="1"/>
            <a:r>
              <a:rPr lang="en-US" dirty="0"/>
              <a:t>Build a predictive classifier (Logistic Regression, RF, XGBoost)</a:t>
            </a:r>
          </a:p>
          <a:p>
            <a:pPr lvl="1"/>
            <a:r>
              <a:rPr lang="en-US" dirty="0"/>
              <a:t>Conduct thorough EDA to understand purchasing patterns</a:t>
            </a:r>
          </a:p>
          <a:p>
            <a:pPr lvl="1"/>
            <a:r>
              <a:rPr lang="en-US" dirty="0"/>
              <a:t>Provide actionable business recommendations per segment</a:t>
            </a:r>
          </a:p>
          <a:p>
            <a:pPr lvl="1"/>
            <a:r>
              <a:rPr lang="en-US" dirty="0"/>
              <a:t>Deploy interactive Streamlit app for real-time prediction</a:t>
            </a:r>
          </a:p>
          <a:p>
            <a:pPr lvl="0"/>
            <a:r>
              <a:rPr lang="en-US" b="1" dirty="0"/>
              <a:t>Tech Stack</a:t>
            </a:r>
          </a:p>
          <a:p>
            <a:pPr lvl="1"/>
            <a:r>
              <a:rPr lang="en-US" dirty="0"/>
              <a:t>Python  |  Scikit-learn  |  XGBoost  |  Streamlit  |  Pandas  |  NumPy</a:t>
            </a:r>
          </a:p>
        </p:txBody>
      </p:sp>
    </p:spTree>
    <p:extLst>
      <p:ext uri="{BB962C8B-B14F-4D97-AF65-F5344CB8AC3E}">
        <p14:creationId xmlns:p14="http://schemas.microsoft.com/office/powerpoint/2010/main" val="2272459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554474" y="265250"/>
            <a:ext cx="5107239" cy="612775"/>
          </a:xfrm>
        </p:spPr>
        <p:txBody>
          <a:bodyPr/>
          <a:lstStyle/>
          <a:p>
            <a:r>
              <a:rPr lang="en-US" b="1" dirty="0"/>
              <a:t>Dataset &amp; Data Cleaning</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678880" y="1316936"/>
            <a:ext cx="5107239" cy="4398066"/>
          </a:xfrm>
        </p:spPr>
        <p:txBody>
          <a:bodyPr/>
          <a:lstStyle/>
          <a:p>
            <a:r>
              <a:rPr lang="en-US" dirty="0"/>
              <a:t>Understanding the raw data and preparing it for analysis</a:t>
            </a:r>
          </a:p>
        </p:txBody>
      </p:sp>
      <p:pic>
        <p:nvPicPr>
          <p:cNvPr id="3" name="Picture 2" descr="A screenshot of a computer&#10;&#10;AI-generated content may be incorrect.">
            <a:extLst>
              <a:ext uri="{FF2B5EF4-FFF2-40B4-BE49-F238E27FC236}">
                <a16:creationId xmlns:a16="http://schemas.microsoft.com/office/drawing/2014/main" id="{85DDD32D-FA5F-507E-A7FE-94A3BC5E02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21542" y="187752"/>
            <a:ext cx="4220027" cy="2815704"/>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4659F463-A267-DE2F-01D3-EBDBF9F586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1542" y="3268573"/>
            <a:ext cx="4265372" cy="2815703"/>
          </a:xfrm>
          <a:prstGeom prst="rect">
            <a:avLst/>
          </a:prstGeom>
        </p:spPr>
      </p:pic>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E06B55B6-77AC-FC56-BE2D-74A3A98367AB}"/>
                  </a:ext>
                </a:extLst>
              </p14:cNvPr>
              <p14:cNvContentPartPr/>
              <p14:nvPr/>
            </p14:nvContentPartPr>
            <p14:xfrm>
              <a:off x="-105715" y="404418"/>
              <a:ext cx="360" cy="360"/>
            </p14:xfrm>
          </p:contentPart>
        </mc:Choice>
        <mc:Fallback xmlns="">
          <p:pic>
            <p:nvPicPr>
              <p:cNvPr id="12" name="Ink 11">
                <a:extLst>
                  <a:ext uri="{FF2B5EF4-FFF2-40B4-BE49-F238E27FC236}">
                    <a16:creationId xmlns:a16="http://schemas.microsoft.com/office/drawing/2014/main" id="{E06B55B6-77AC-FC56-BE2D-74A3A98367AB}"/>
                  </a:ext>
                </a:extLst>
              </p:cNvPr>
              <p:cNvPicPr/>
              <p:nvPr/>
            </p:nvPicPr>
            <p:blipFill>
              <a:blip r:embed="rId5"/>
              <a:stretch>
                <a:fillRect/>
              </a:stretch>
            </p:blipFill>
            <p:spPr>
              <a:xfrm>
                <a:off x="-110035" y="400098"/>
                <a:ext cx="9000" cy="9000"/>
              </a:xfrm>
              <a:prstGeom prst="rect">
                <a:avLst/>
              </a:prstGeom>
            </p:spPr>
          </p:pic>
        </mc:Fallback>
      </mc:AlternateContent>
    </p:spTree>
    <p:extLst>
      <p:ext uri="{BB962C8B-B14F-4D97-AF65-F5344CB8AC3E}">
        <p14:creationId xmlns:p14="http://schemas.microsoft.com/office/powerpoint/2010/main" val="1344420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406888" y="285295"/>
            <a:ext cx="5107239" cy="612775"/>
          </a:xfrm>
        </p:spPr>
        <p:txBody>
          <a:bodyPr>
            <a:normAutofit/>
          </a:bodyPr>
          <a:lstStyle/>
          <a:p>
            <a:r>
              <a:rPr lang="en-US" dirty="0"/>
              <a:t>Dataset Overview</a:t>
            </a:r>
          </a:p>
        </p:txBody>
      </p:sp>
      <p:graphicFrame>
        <p:nvGraphicFramePr>
          <p:cNvPr id="5" name="Content Placeholder 4">
            <a:extLst>
              <a:ext uri="{FF2B5EF4-FFF2-40B4-BE49-F238E27FC236}">
                <a16:creationId xmlns:a16="http://schemas.microsoft.com/office/drawing/2014/main" id="{FAEA5DB0-4534-035B-98D6-41BA9AAD45C5}"/>
              </a:ext>
            </a:extLst>
          </p:cNvPr>
          <p:cNvGraphicFramePr>
            <a:graphicFrameLocks noGrp="1"/>
          </p:cNvGraphicFramePr>
          <p:nvPr>
            <p:ph idx="1"/>
            <p:extLst>
              <p:ext uri="{D42A27DB-BD31-4B8C-83A1-F6EECF244321}">
                <p14:modId xmlns:p14="http://schemas.microsoft.com/office/powerpoint/2010/main" val="2782498279"/>
              </p:ext>
            </p:extLst>
          </p:nvPr>
        </p:nvGraphicFramePr>
        <p:xfrm>
          <a:off x="406888" y="1250269"/>
          <a:ext cx="5106988" cy="4709661"/>
        </p:xfrm>
        <a:graphic>
          <a:graphicData uri="http://schemas.openxmlformats.org/drawingml/2006/table">
            <a:tbl>
              <a:tblPr firstRow="1" bandRow="1">
                <a:tableStyleId>{5C22544A-7EE6-4342-B048-85BDC9FD1C3A}</a:tableStyleId>
              </a:tblPr>
              <a:tblGrid>
                <a:gridCol w="2553494">
                  <a:extLst>
                    <a:ext uri="{9D8B030D-6E8A-4147-A177-3AD203B41FA5}">
                      <a16:colId xmlns:a16="http://schemas.microsoft.com/office/drawing/2014/main" val="1820934435"/>
                    </a:ext>
                  </a:extLst>
                </a:gridCol>
                <a:gridCol w="2553494">
                  <a:extLst>
                    <a:ext uri="{9D8B030D-6E8A-4147-A177-3AD203B41FA5}">
                      <a16:colId xmlns:a16="http://schemas.microsoft.com/office/drawing/2014/main" val="3974558962"/>
                    </a:ext>
                  </a:extLst>
                </a:gridCol>
              </a:tblGrid>
              <a:tr h="522021">
                <a:tc>
                  <a:txBody>
                    <a:bodyPr/>
                    <a:lstStyle/>
                    <a:p>
                      <a:pPr algn="ctr"/>
                      <a:r>
                        <a:rPr lang="en-IN" dirty="0"/>
                        <a:t>Attribute</a:t>
                      </a:r>
                    </a:p>
                  </a:txBody>
                  <a:tcPr/>
                </a:tc>
                <a:tc>
                  <a:txBody>
                    <a:bodyPr/>
                    <a:lstStyle/>
                    <a:p>
                      <a:pPr algn="ctr"/>
                      <a:r>
                        <a:rPr lang="en-IN" dirty="0"/>
                        <a:t>Value</a:t>
                      </a:r>
                    </a:p>
                  </a:txBody>
                  <a:tcPr/>
                </a:tc>
                <a:extLst>
                  <a:ext uri="{0D108BD9-81ED-4DB2-BD59-A6C34878D82A}">
                    <a16:rowId xmlns:a16="http://schemas.microsoft.com/office/drawing/2014/main" val="2296781748"/>
                  </a:ext>
                </a:extLst>
              </a:tr>
              <a:tr h="837528">
                <a:tc>
                  <a:txBody>
                    <a:bodyPr/>
                    <a:lstStyle/>
                    <a:p>
                      <a:pPr algn="ctr"/>
                      <a:r>
                        <a:rPr lang="en-IN" b="1" i="0" dirty="0"/>
                        <a:t>Total Rows</a:t>
                      </a:r>
                    </a:p>
                  </a:txBody>
                  <a:tcPr/>
                </a:tc>
                <a:tc>
                  <a:txBody>
                    <a:bodyPr/>
                    <a:lstStyle/>
                    <a:p>
                      <a:pPr algn="ctr"/>
                      <a:r>
                        <a:rPr lang="en-IN" b="1" i="0" dirty="0"/>
                        <a:t>541, 909</a:t>
                      </a:r>
                    </a:p>
                  </a:txBody>
                  <a:tcPr/>
                </a:tc>
                <a:extLst>
                  <a:ext uri="{0D108BD9-81ED-4DB2-BD59-A6C34878D82A}">
                    <a16:rowId xmlns:a16="http://schemas.microsoft.com/office/drawing/2014/main" val="855043687"/>
                  </a:ext>
                </a:extLst>
              </a:tr>
              <a:tr h="837528">
                <a:tc>
                  <a:txBody>
                    <a:bodyPr/>
                    <a:lstStyle/>
                    <a:p>
                      <a:pPr algn="ctr"/>
                      <a:r>
                        <a:rPr lang="en-IN" b="1" i="0" dirty="0"/>
                        <a:t>Total Column</a:t>
                      </a:r>
                    </a:p>
                  </a:txBody>
                  <a:tcPr/>
                </a:tc>
                <a:tc>
                  <a:txBody>
                    <a:bodyPr/>
                    <a:lstStyle/>
                    <a:p>
                      <a:pPr algn="ctr"/>
                      <a:r>
                        <a:rPr lang="en-IN" b="1" i="0" dirty="0"/>
                        <a:t>8</a:t>
                      </a:r>
                    </a:p>
                  </a:txBody>
                  <a:tcPr/>
                </a:tc>
                <a:extLst>
                  <a:ext uri="{0D108BD9-81ED-4DB2-BD59-A6C34878D82A}">
                    <a16:rowId xmlns:a16="http://schemas.microsoft.com/office/drawing/2014/main" val="1494804987"/>
                  </a:ext>
                </a:extLst>
              </a:tr>
              <a:tr h="837528">
                <a:tc>
                  <a:txBody>
                    <a:bodyPr/>
                    <a:lstStyle/>
                    <a:p>
                      <a:pPr algn="ctr"/>
                      <a:r>
                        <a:rPr lang="en-IN" b="1" i="0" dirty="0"/>
                        <a:t>Date Range</a:t>
                      </a:r>
                    </a:p>
                  </a:txBody>
                  <a:tcPr/>
                </a:tc>
                <a:tc>
                  <a:txBody>
                    <a:bodyPr/>
                    <a:lstStyle/>
                    <a:p>
                      <a:pPr algn="ctr"/>
                      <a:r>
                        <a:rPr lang="en-IN" b="1" i="0" dirty="0"/>
                        <a:t>December 2010 – December 2011</a:t>
                      </a:r>
                    </a:p>
                  </a:txBody>
                  <a:tcPr/>
                </a:tc>
                <a:extLst>
                  <a:ext uri="{0D108BD9-81ED-4DB2-BD59-A6C34878D82A}">
                    <a16:rowId xmlns:a16="http://schemas.microsoft.com/office/drawing/2014/main" val="3595343591"/>
                  </a:ext>
                </a:extLst>
              </a:tr>
              <a:tr h="837528">
                <a:tc>
                  <a:txBody>
                    <a:bodyPr/>
                    <a:lstStyle/>
                    <a:p>
                      <a:pPr algn="ctr"/>
                      <a:r>
                        <a:rPr lang="en-IN" b="1" i="0" dirty="0"/>
                        <a:t>Countries </a:t>
                      </a:r>
                    </a:p>
                  </a:txBody>
                  <a:tcPr/>
                </a:tc>
                <a:tc>
                  <a:txBody>
                    <a:bodyPr/>
                    <a:lstStyle/>
                    <a:p>
                      <a:pPr algn="ctr"/>
                      <a:r>
                        <a:rPr lang="en-IN" b="1" i="0" dirty="0"/>
                        <a:t>38</a:t>
                      </a:r>
                    </a:p>
                  </a:txBody>
                  <a:tcPr/>
                </a:tc>
                <a:extLst>
                  <a:ext uri="{0D108BD9-81ED-4DB2-BD59-A6C34878D82A}">
                    <a16:rowId xmlns:a16="http://schemas.microsoft.com/office/drawing/2014/main" val="1904957029"/>
                  </a:ext>
                </a:extLst>
              </a:tr>
              <a:tr h="837528">
                <a:tc>
                  <a:txBody>
                    <a:bodyPr/>
                    <a:lstStyle/>
                    <a:p>
                      <a:pPr algn="ctr"/>
                      <a:r>
                        <a:rPr lang="en-IN" b="1" i="0" dirty="0"/>
                        <a:t>File Format </a:t>
                      </a:r>
                    </a:p>
                  </a:txBody>
                  <a:tcPr/>
                </a:tc>
                <a:tc>
                  <a:txBody>
                    <a:bodyPr/>
                    <a:lstStyle/>
                    <a:p>
                      <a:pPr algn="ctr"/>
                      <a:r>
                        <a:rPr lang="en-IN" b="1" i="0" dirty="0"/>
                        <a:t>CSV</a:t>
                      </a:r>
                    </a:p>
                  </a:txBody>
                  <a:tcPr/>
                </a:tc>
                <a:extLst>
                  <a:ext uri="{0D108BD9-81ED-4DB2-BD59-A6C34878D82A}">
                    <a16:rowId xmlns:a16="http://schemas.microsoft.com/office/drawing/2014/main" val="502413725"/>
                  </a:ext>
                </a:extLst>
              </a:tr>
            </a:tbl>
          </a:graphicData>
        </a:graphic>
      </p:graphicFrame>
      <p:pic>
        <p:nvPicPr>
          <p:cNvPr id="8" name="Picture 7" descr="A screenshot of a computer&#10;&#10;AI-generated content may be incorrect.">
            <a:extLst>
              <a:ext uri="{FF2B5EF4-FFF2-40B4-BE49-F238E27FC236}">
                <a16:creationId xmlns:a16="http://schemas.microsoft.com/office/drawing/2014/main" id="{52A21D85-DDD8-8B49-78B2-C5C574337F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1976" y="186400"/>
            <a:ext cx="4875132" cy="3816532"/>
          </a:xfrm>
          <a:prstGeom prst="rect">
            <a:avLst/>
          </a:prstGeom>
        </p:spPr>
      </p:pic>
      <p:pic>
        <p:nvPicPr>
          <p:cNvPr id="10" name="Picture 9" descr="A white rectangular object with a black border&#10;&#10;AI-generated content may be incorrect.">
            <a:extLst>
              <a:ext uri="{FF2B5EF4-FFF2-40B4-BE49-F238E27FC236}">
                <a16:creationId xmlns:a16="http://schemas.microsoft.com/office/drawing/2014/main" id="{E1DB811B-FA43-1DEF-3037-A00F6CD30E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1976" y="4345902"/>
            <a:ext cx="5756053" cy="1614028"/>
          </a:xfrm>
          <a:prstGeom prst="rect">
            <a:avLst/>
          </a:prstGeom>
        </p:spPr>
      </p:pic>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2B9C-E12A-EDF9-43DE-72EE4FA3A054}"/>
              </a:ext>
            </a:extLst>
          </p:cNvPr>
          <p:cNvSpPr>
            <a:spLocks noGrp="1"/>
          </p:cNvSpPr>
          <p:nvPr>
            <p:ph type="title"/>
          </p:nvPr>
        </p:nvSpPr>
        <p:spPr>
          <a:xfrm>
            <a:off x="476658" y="295934"/>
            <a:ext cx="5107239" cy="612775"/>
          </a:xfrm>
        </p:spPr>
        <p:txBody>
          <a:bodyPr/>
          <a:lstStyle/>
          <a:p>
            <a:r>
              <a:rPr lang="en-US" dirty="0"/>
              <a:t>Dataset Overview</a:t>
            </a:r>
            <a:endParaRPr lang="en-IN" dirty="0"/>
          </a:p>
        </p:txBody>
      </p:sp>
      <p:graphicFrame>
        <p:nvGraphicFramePr>
          <p:cNvPr id="5" name="Content Placeholder 4">
            <a:extLst>
              <a:ext uri="{FF2B5EF4-FFF2-40B4-BE49-F238E27FC236}">
                <a16:creationId xmlns:a16="http://schemas.microsoft.com/office/drawing/2014/main" id="{59721DC1-5BD4-6B5A-F0F8-B8C4CEB93EF3}"/>
              </a:ext>
            </a:extLst>
          </p:cNvPr>
          <p:cNvGraphicFramePr>
            <a:graphicFrameLocks noGrp="1"/>
          </p:cNvGraphicFramePr>
          <p:nvPr>
            <p:ph idx="1"/>
            <p:extLst>
              <p:ext uri="{D42A27DB-BD31-4B8C-83A1-F6EECF244321}">
                <p14:modId xmlns:p14="http://schemas.microsoft.com/office/powerpoint/2010/main" val="2214552907"/>
              </p:ext>
            </p:extLst>
          </p:nvPr>
        </p:nvGraphicFramePr>
        <p:xfrm>
          <a:off x="477225" y="1123590"/>
          <a:ext cx="5106672" cy="4906824"/>
        </p:xfrm>
        <a:graphic>
          <a:graphicData uri="http://schemas.openxmlformats.org/drawingml/2006/table">
            <a:tbl>
              <a:tblPr firstRow="1" bandRow="1">
                <a:tableStyleId>{5C22544A-7EE6-4342-B048-85BDC9FD1C3A}</a:tableStyleId>
              </a:tblPr>
              <a:tblGrid>
                <a:gridCol w="1276668">
                  <a:extLst>
                    <a:ext uri="{9D8B030D-6E8A-4147-A177-3AD203B41FA5}">
                      <a16:colId xmlns:a16="http://schemas.microsoft.com/office/drawing/2014/main" val="3232225747"/>
                    </a:ext>
                  </a:extLst>
                </a:gridCol>
                <a:gridCol w="1276668">
                  <a:extLst>
                    <a:ext uri="{9D8B030D-6E8A-4147-A177-3AD203B41FA5}">
                      <a16:colId xmlns:a16="http://schemas.microsoft.com/office/drawing/2014/main" val="3572607205"/>
                    </a:ext>
                  </a:extLst>
                </a:gridCol>
                <a:gridCol w="1276668">
                  <a:extLst>
                    <a:ext uri="{9D8B030D-6E8A-4147-A177-3AD203B41FA5}">
                      <a16:colId xmlns:a16="http://schemas.microsoft.com/office/drawing/2014/main" val="557901332"/>
                    </a:ext>
                  </a:extLst>
                </a:gridCol>
                <a:gridCol w="1276668">
                  <a:extLst>
                    <a:ext uri="{9D8B030D-6E8A-4147-A177-3AD203B41FA5}">
                      <a16:colId xmlns:a16="http://schemas.microsoft.com/office/drawing/2014/main" val="3627332055"/>
                    </a:ext>
                  </a:extLst>
                </a:gridCol>
              </a:tblGrid>
              <a:tr h="445861">
                <a:tc>
                  <a:txBody>
                    <a:bodyPr/>
                    <a:lstStyle/>
                    <a:p>
                      <a:r>
                        <a:rPr lang="en-IN" dirty="0"/>
                        <a:t>Issues</a:t>
                      </a:r>
                    </a:p>
                  </a:txBody>
                  <a:tcPr/>
                </a:tc>
                <a:tc>
                  <a:txBody>
                    <a:bodyPr/>
                    <a:lstStyle/>
                    <a:p>
                      <a:r>
                        <a:rPr lang="en-IN" dirty="0"/>
                        <a:t>Count</a:t>
                      </a:r>
                    </a:p>
                  </a:txBody>
                  <a:tcPr/>
                </a:tc>
                <a:tc>
                  <a:txBody>
                    <a:bodyPr/>
                    <a:lstStyle/>
                    <a:p>
                      <a:r>
                        <a:rPr lang="en-IN" dirty="0"/>
                        <a:t>Percentage</a:t>
                      </a:r>
                    </a:p>
                  </a:txBody>
                  <a:tcPr/>
                </a:tc>
                <a:tc>
                  <a:txBody>
                    <a:bodyPr/>
                    <a:lstStyle/>
                    <a:p>
                      <a:r>
                        <a:rPr lang="en-IN" dirty="0"/>
                        <a:t>Action Taken</a:t>
                      </a:r>
                    </a:p>
                  </a:txBody>
                  <a:tcPr/>
                </a:tc>
                <a:extLst>
                  <a:ext uri="{0D108BD9-81ED-4DB2-BD59-A6C34878D82A}">
                    <a16:rowId xmlns:a16="http://schemas.microsoft.com/office/drawing/2014/main" val="1167633650"/>
                  </a:ext>
                </a:extLst>
              </a:tr>
              <a:tr h="711124">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Missing </a:t>
                      </a:r>
                      <a:r>
                        <a:rPr lang="en-IN" sz="1000" dirty="0" err="1">
                          <a:solidFill>
                            <a:srgbClr val="000000"/>
                          </a:solidFill>
                          <a:effectLst/>
                          <a:latin typeface="Arial" panose="020B0604020202020204" pitchFamily="34" charset="0"/>
                          <a:ea typeface="Arial" panose="020B0604020202020204" pitchFamily="34" charset="0"/>
                        </a:rPr>
                        <a:t>CustomerIDs</a:t>
                      </a:r>
                      <a:endParaRPr lang="en-IN" sz="11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135,080</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24.9%</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Retained for EDA, removed for RFM</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924906842"/>
                  </a:ext>
                </a:extLst>
              </a:tr>
              <a:tr h="711124">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Missing Descriptions</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1,454</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0.27%</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Resolved after cleaning</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934624272"/>
                  </a:ext>
                </a:extLst>
              </a:tr>
              <a:tr h="711124">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Cancelled Orders</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9,288</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1.71%</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Removed in cleaning</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685098085"/>
                  </a:ext>
                </a:extLst>
              </a:tr>
              <a:tr h="711124">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Negative Quantities</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10,624</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1.96%</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Removed in cleaning</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2726765218"/>
                  </a:ext>
                </a:extLst>
              </a:tr>
              <a:tr h="711124">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Zero/Negative Prices</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2,517</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0.46%</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Removed in cleaning</a:t>
                      </a:r>
                      <a:endParaRPr lang="en-IN" sz="11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784643429"/>
                  </a:ext>
                </a:extLst>
              </a:tr>
              <a:tr h="711124">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Duplicate Rows</a:t>
                      </a:r>
                      <a:endParaRPr lang="en-IN" sz="11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5,268</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0.97%</a:t>
                      </a:r>
                      <a:endParaRPr lang="en-IN" sz="11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Removed in cleaning</a:t>
                      </a:r>
                      <a:endParaRPr lang="en-IN" sz="11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80061419"/>
                  </a:ext>
                </a:extLst>
              </a:tr>
            </a:tbl>
          </a:graphicData>
        </a:graphic>
      </p:graphicFrame>
      <p:pic>
        <p:nvPicPr>
          <p:cNvPr id="7" name="Picture 6" descr="A screenshot of a computer&#10;&#10;AI-generated content may be incorrect.">
            <a:extLst>
              <a:ext uri="{FF2B5EF4-FFF2-40B4-BE49-F238E27FC236}">
                <a16:creationId xmlns:a16="http://schemas.microsoft.com/office/drawing/2014/main" id="{008CB931-3F64-AEAA-82B9-55A5DA837F8E}"/>
              </a:ext>
            </a:extLst>
          </p:cNvPr>
          <p:cNvPicPr>
            <a:picLocks noChangeAspect="1"/>
          </p:cNvPicPr>
          <p:nvPr/>
        </p:nvPicPr>
        <p:blipFill>
          <a:blip r:embed="rId3"/>
          <a:stretch>
            <a:fillRect/>
          </a:stretch>
        </p:blipFill>
        <p:spPr>
          <a:xfrm>
            <a:off x="6189786" y="1805366"/>
            <a:ext cx="5888702" cy="2601414"/>
          </a:xfrm>
          <a:prstGeom prst="rect">
            <a:avLst/>
          </a:prstGeom>
        </p:spPr>
      </p:pic>
    </p:spTree>
    <p:extLst>
      <p:ext uri="{BB962C8B-B14F-4D97-AF65-F5344CB8AC3E}">
        <p14:creationId xmlns:p14="http://schemas.microsoft.com/office/powerpoint/2010/main" val="3067213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Data Cleaning</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730830"/>
            <a:ext cx="10834234" cy="4131128"/>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What Was Removed</a:t>
            </a:r>
          </a:p>
          <a:p>
            <a:pPr lvl="1"/>
            <a:r>
              <a:rPr lang="en-US" i="1" dirty="0"/>
              <a:t>Cancelled Orders </a:t>
            </a:r>
            <a:r>
              <a:rPr lang="en-IN" i="1" dirty="0"/>
              <a:t>(</a:t>
            </a:r>
            <a:r>
              <a:rPr lang="en-IN" i="1" dirty="0" err="1"/>
              <a:t>InvoiceNo</a:t>
            </a:r>
            <a:r>
              <a:rPr lang="en-IN" i="1" dirty="0"/>
              <a:t> starting with 'C')</a:t>
            </a:r>
            <a:r>
              <a:rPr lang="en-US" dirty="0"/>
              <a:t>: Distort Frequency and Monetary values</a:t>
            </a:r>
          </a:p>
          <a:p>
            <a:pPr lvl="1"/>
            <a:r>
              <a:rPr lang="en-US" i="1" dirty="0"/>
              <a:t>Negative Quantities</a:t>
            </a:r>
            <a:r>
              <a:rPr lang="en-US" dirty="0"/>
              <a:t>: Returns that reduce Monetary artificially</a:t>
            </a:r>
          </a:p>
          <a:p>
            <a:pPr lvl="1"/>
            <a:r>
              <a:rPr lang="en-US" i="1" dirty="0"/>
              <a:t>Zero/Negative Prices</a:t>
            </a:r>
            <a:r>
              <a:rPr lang="en-US" dirty="0"/>
              <a:t>: Free samples or data entry errors</a:t>
            </a:r>
          </a:p>
          <a:p>
            <a:pPr lvl="1"/>
            <a:r>
              <a:rPr lang="en-US" i="1" dirty="0"/>
              <a:t>Duplicate rows</a:t>
            </a:r>
            <a:r>
              <a:rPr lang="en-US" dirty="0"/>
              <a:t>: Prevent double-counting transactions</a:t>
            </a:r>
          </a:p>
          <a:p>
            <a:pPr lvl="0"/>
            <a:r>
              <a:rPr lang="en-US" b="1" dirty="0"/>
              <a:t>What Was Retained</a:t>
            </a:r>
          </a:p>
          <a:p>
            <a:pPr lvl="1"/>
            <a:r>
              <a:rPr lang="en-US" i="1" dirty="0"/>
              <a:t>Missing CustomerIDs</a:t>
            </a:r>
            <a:r>
              <a:rPr lang="en-US" dirty="0"/>
              <a:t>: Kept for EDA, removed only at RFM aggregation stage.</a:t>
            </a:r>
          </a:p>
        </p:txBody>
      </p:sp>
    </p:spTree>
    <p:extLst>
      <p:ext uri="{BB962C8B-B14F-4D97-AF65-F5344CB8AC3E}">
        <p14:creationId xmlns:p14="http://schemas.microsoft.com/office/powerpoint/2010/main" val="2272459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4EF05-C686-F339-5E9D-98BABE70D5A8}"/>
              </a:ext>
            </a:extLst>
          </p:cNvPr>
          <p:cNvSpPr>
            <a:spLocks noGrp="1"/>
          </p:cNvSpPr>
          <p:nvPr>
            <p:ph type="title"/>
          </p:nvPr>
        </p:nvSpPr>
        <p:spPr>
          <a:xfrm>
            <a:off x="529411" y="331104"/>
            <a:ext cx="5107239" cy="612775"/>
          </a:xfrm>
        </p:spPr>
        <p:txBody>
          <a:bodyPr/>
          <a:lstStyle/>
          <a:p>
            <a:r>
              <a:rPr lang="en-IN" dirty="0"/>
              <a:t>Cleaning Result</a:t>
            </a:r>
          </a:p>
        </p:txBody>
      </p:sp>
      <p:graphicFrame>
        <p:nvGraphicFramePr>
          <p:cNvPr id="6" name="Content Placeholder 5">
            <a:extLst>
              <a:ext uri="{FF2B5EF4-FFF2-40B4-BE49-F238E27FC236}">
                <a16:creationId xmlns:a16="http://schemas.microsoft.com/office/drawing/2014/main" id="{04E9B861-9510-1012-8F23-C5BF26FCD7F8}"/>
              </a:ext>
            </a:extLst>
          </p:cNvPr>
          <p:cNvGraphicFramePr>
            <a:graphicFrameLocks noGrp="1"/>
          </p:cNvGraphicFramePr>
          <p:nvPr>
            <p:ph idx="1"/>
            <p:extLst>
              <p:ext uri="{D42A27DB-BD31-4B8C-83A1-F6EECF244321}">
                <p14:modId xmlns:p14="http://schemas.microsoft.com/office/powerpoint/2010/main" val="505387444"/>
              </p:ext>
            </p:extLst>
          </p:nvPr>
        </p:nvGraphicFramePr>
        <p:xfrm>
          <a:off x="529411" y="1045064"/>
          <a:ext cx="5106988" cy="4951290"/>
        </p:xfrm>
        <a:graphic>
          <a:graphicData uri="http://schemas.openxmlformats.org/drawingml/2006/table">
            <a:tbl>
              <a:tblPr firstRow="1" bandRow="1">
                <a:tableStyleId>{5C22544A-7EE6-4342-B048-85BDC9FD1C3A}</a:tableStyleId>
              </a:tblPr>
              <a:tblGrid>
                <a:gridCol w="2553494">
                  <a:extLst>
                    <a:ext uri="{9D8B030D-6E8A-4147-A177-3AD203B41FA5}">
                      <a16:colId xmlns:a16="http://schemas.microsoft.com/office/drawing/2014/main" val="1298275484"/>
                    </a:ext>
                  </a:extLst>
                </a:gridCol>
                <a:gridCol w="2553494">
                  <a:extLst>
                    <a:ext uri="{9D8B030D-6E8A-4147-A177-3AD203B41FA5}">
                      <a16:colId xmlns:a16="http://schemas.microsoft.com/office/drawing/2014/main" val="2392163407"/>
                    </a:ext>
                  </a:extLst>
                </a:gridCol>
              </a:tblGrid>
              <a:tr h="495129">
                <a:tc>
                  <a:txBody>
                    <a:bodyPr/>
                    <a:lstStyle/>
                    <a:p>
                      <a:pPr algn="ctr">
                        <a:buNone/>
                      </a:pPr>
                      <a:r>
                        <a:rPr lang="en-IN" sz="1000" b="1" dirty="0">
                          <a:solidFill>
                            <a:srgbClr val="FFFFFF"/>
                          </a:solidFill>
                          <a:effectLst/>
                          <a:latin typeface="Arial" panose="020B0604020202020204" pitchFamily="34" charset="0"/>
                          <a:ea typeface="Arial" panose="020B0604020202020204" pitchFamily="34" charset="0"/>
                        </a:rPr>
                        <a:t>Metric</a:t>
                      </a:r>
                      <a:endParaRPr lang="en-IN" sz="11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b="1">
                          <a:solidFill>
                            <a:srgbClr val="FFFFFF"/>
                          </a:solidFill>
                          <a:effectLst/>
                          <a:latin typeface="Arial" panose="020B0604020202020204" pitchFamily="34" charset="0"/>
                          <a:ea typeface="Arial" panose="020B0604020202020204" pitchFamily="34" charset="0"/>
                        </a:rPr>
                        <a:t>Value</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3519817575"/>
                  </a:ext>
                </a:extLst>
              </a:tr>
              <a:tr h="495129">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Original Rows</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541,909</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3179402379"/>
                  </a:ext>
                </a:extLst>
              </a:tr>
              <a:tr h="495129">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Rows Removed</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17,031</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80118678"/>
                  </a:ext>
                </a:extLst>
              </a:tr>
              <a:tr h="495129">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Cleaned Rows</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524,878</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517629752"/>
                  </a:ext>
                </a:extLst>
              </a:tr>
              <a:tr h="495129">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Remaining Columns</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9 (TotalPrice added)</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613407370"/>
                  </a:ext>
                </a:extLst>
              </a:tr>
              <a:tr h="495129">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Missing CustomerIDs Remaining</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132,186</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2299477901"/>
                  </a:ext>
                </a:extLst>
              </a:tr>
              <a:tr h="495129">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Missing Descriptions Remaining</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0</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3353043121"/>
                  </a:ext>
                </a:extLst>
              </a:tr>
              <a:tr h="495129">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Date Range</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December 2010 – December 2011</a:t>
                      </a:r>
                      <a:endParaRPr lang="en-IN" sz="11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853719076"/>
                  </a:ext>
                </a:extLst>
              </a:tr>
              <a:tr h="495129">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Unique Customers</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4,338</a:t>
                      </a:r>
                      <a:endParaRPr lang="en-IN" sz="11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34857620"/>
                  </a:ext>
                </a:extLst>
              </a:tr>
              <a:tr h="495129">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Unique Countries</a:t>
                      </a:r>
                      <a:endParaRPr lang="en-IN" sz="11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38</a:t>
                      </a:r>
                      <a:endParaRPr lang="en-IN" sz="11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538082395"/>
                  </a:ext>
                </a:extLst>
              </a:tr>
            </a:tbl>
          </a:graphicData>
        </a:graphic>
      </p:graphicFrame>
      <p:pic>
        <p:nvPicPr>
          <p:cNvPr id="8" name="Picture 7" descr="A screenshot of a computer&#10;&#10;AI-generated content may be incorrect.">
            <a:extLst>
              <a:ext uri="{FF2B5EF4-FFF2-40B4-BE49-F238E27FC236}">
                <a16:creationId xmlns:a16="http://schemas.microsoft.com/office/drawing/2014/main" id="{AFC39A03-0BA0-DD0B-6239-BF04F02FEF8F}"/>
              </a:ext>
            </a:extLst>
          </p:cNvPr>
          <p:cNvPicPr>
            <a:picLocks noChangeAspect="1"/>
          </p:cNvPicPr>
          <p:nvPr/>
        </p:nvPicPr>
        <p:blipFill>
          <a:blip r:embed="rId2"/>
          <a:stretch>
            <a:fillRect/>
          </a:stretch>
        </p:blipFill>
        <p:spPr>
          <a:xfrm>
            <a:off x="6205918" y="4164549"/>
            <a:ext cx="5890408" cy="1910935"/>
          </a:xfrm>
          <a:prstGeom prst="rect">
            <a:avLst/>
          </a:prstGeom>
        </p:spPr>
      </p:pic>
      <p:pic>
        <p:nvPicPr>
          <p:cNvPr id="10" name="Picture 9" descr="A white background with colorful text&#10;&#10;AI-generated content may be incorrect.">
            <a:extLst>
              <a:ext uri="{FF2B5EF4-FFF2-40B4-BE49-F238E27FC236}">
                <a16:creationId xmlns:a16="http://schemas.microsoft.com/office/drawing/2014/main" id="{6F3D8EF0-82C0-7E16-9F3F-D231F1989585}"/>
              </a:ext>
            </a:extLst>
          </p:cNvPr>
          <p:cNvPicPr>
            <a:picLocks noChangeAspect="1"/>
          </p:cNvPicPr>
          <p:nvPr/>
        </p:nvPicPr>
        <p:blipFill>
          <a:blip r:embed="rId3"/>
          <a:stretch>
            <a:fillRect/>
          </a:stretch>
        </p:blipFill>
        <p:spPr>
          <a:xfrm>
            <a:off x="6217440" y="3226777"/>
            <a:ext cx="5878887" cy="861646"/>
          </a:xfrm>
          <a:prstGeom prst="rect">
            <a:avLst/>
          </a:prstGeom>
        </p:spPr>
      </p:pic>
      <p:pic>
        <p:nvPicPr>
          <p:cNvPr id="12" name="Picture 11" descr="A screen shot of a computer&#10;&#10;AI-generated content may be incorrect.">
            <a:extLst>
              <a:ext uri="{FF2B5EF4-FFF2-40B4-BE49-F238E27FC236}">
                <a16:creationId xmlns:a16="http://schemas.microsoft.com/office/drawing/2014/main" id="{8CDA7291-505D-A295-99AF-45CE56988CB7}"/>
              </a:ext>
            </a:extLst>
          </p:cNvPr>
          <p:cNvPicPr>
            <a:picLocks noChangeAspect="1"/>
          </p:cNvPicPr>
          <p:nvPr/>
        </p:nvPicPr>
        <p:blipFill>
          <a:blip r:embed="rId4"/>
          <a:stretch>
            <a:fillRect/>
          </a:stretch>
        </p:blipFill>
        <p:spPr>
          <a:xfrm>
            <a:off x="6217440" y="640952"/>
            <a:ext cx="5878886" cy="2509700"/>
          </a:xfrm>
          <a:prstGeom prst="rect">
            <a:avLst/>
          </a:prstGeom>
        </p:spPr>
      </p:pic>
    </p:spTree>
    <p:extLst>
      <p:ext uri="{BB962C8B-B14F-4D97-AF65-F5344CB8AC3E}">
        <p14:creationId xmlns:p14="http://schemas.microsoft.com/office/powerpoint/2010/main" val="182824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r>
              <a:rPr lang="en-US" b="1" dirty="0"/>
              <a:t>Exploratory Data Analysis</a:t>
            </a: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a:xfrm>
            <a:off x="678882" y="1659835"/>
            <a:ext cx="5801049" cy="4398066"/>
          </a:xfrm>
        </p:spPr>
        <p:txBody>
          <a:bodyPr/>
          <a:lstStyle/>
          <a:p>
            <a:r>
              <a:rPr lang="en-US" dirty="0"/>
              <a:t>Uncovering patterns and insights from transaction data.</a:t>
            </a:r>
          </a:p>
          <a:p>
            <a:r>
              <a:rPr lang="en-US" dirty="0"/>
              <a:t>It is done in two phases:</a:t>
            </a:r>
          </a:p>
          <a:p>
            <a:pPr lvl="1"/>
            <a:r>
              <a:rPr lang="en-IN" b="1" dirty="0"/>
              <a:t>Pre-cleaning analysis: </a:t>
            </a:r>
            <a:r>
              <a:rPr lang="en-IN" dirty="0"/>
              <a:t>using raw data to understand data quality issues.</a:t>
            </a:r>
          </a:p>
          <a:p>
            <a:pPr lvl="1"/>
            <a:r>
              <a:rPr lang="en-IN" b="1" dirty="0"/>
              <a:t>Post-cleaning analysis: </a:t>
            </a:r>
            <a:r>
              <a:rPr lang="en-IN" dirty="0"/>
              <a:t>using the cleaned dataset to derive business insights.</a:t>
            </a:r>
            <a:endParaRPr lang="en-US" b="1" dirty="0"/>
          </a:p>
        </p:txBody>
      </p:sp>
    </p:spTree>
    <p:extLst>
      <p:ext uri="{BB962C8B-B14F-4D97-AF65-F5344CB8AC3E}">
        <p14:creationId xmlns:p14="http://schemas.microsoft.com/office/powerpoint/2010/main" val="1594365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043BD7B-2F1F-39E1-F382-ADBFA0C877F5}"/>
              </a:ext>
            </a:extLst>
          </p:cNvPr>
          <p:cNvSpPr>
            <a:spLocks noGrp="1"/>
          </p:cNvSpPr>
          <p:nvPr>
            <p:ph type="title"/>
          </p:nvPr>
        </p:nvSpPr>
        <p:spPr/>
        <p:txBody>
          <a:bodyPr/>
          <a:lstStyle/>
          <a:p>
            <a:r>
              <a:rPr lang="en-IN" dirty="0"/>
              <a:t>EDA Performed ( Raw Data)</a:t>
            </a:r>
          </a:p>
        </p:txBody>
      </p:sp>
      <p:sp>
        <p:nvSpPr>
          <p:cNvPr id="9" name="Content Placeholder 8">
            <a:extLst>
              <a:ext uri="{FF2B5EF4-FFF2-40B4-BE49-F238E27FC236}">
                <a16:creationId xmlns:a16="http://schemas.microsoft.com/office/drawing/2014/main" id="{AEC24AF6-1169-26F9-3B69-5DBC9B9FB054}"/>
              </a:ext>
            </a:extLst>
          </p:cNvPr>
          <p:cNvSpPr>
            <a:spLocks noGrp="1"/>
          </p:cNvSpPr>
          <p:nvPr>
            <p:ph idx="1"/>
          </p:nvPr>
        </p:nvSpPr>
        <p:spPr/>
        <p:txBody>
          <a:bodyPr/>
          <a:lstStyle/>
          <a:p>
            <a:r>
              <a:rPr lang="en-GB" dirty="0"/>
              <a:t>Fig 1: Top 10 Countries by Cancellation.</a:t>
            </a:r>
          </a:p>
          <a:p>
            <a:pPr lvl="2"/>
            <a:r>
              <a:rPr lang="en-GB" b="1" u="sng" dirty="0"/>
              <a:t>United Kingdom</a:t>
            </a:r>
            <a:r>
              <a:rPr lang="en-GB" u="sng" dirty="0"/>
              <a:t> </a:t>
            </a:r>
            <a:r>
              <a:rPr lang="en-GB" dirty="0"/>
              <a:t>is the Top Country as per Cancellation.</a:t>
            </a:r>
          </a:p>
          <a:p>
            <a:endParaRPr lang="en-IN" dirty="0"/>
          </a:p>
          <a:p>
            <a:endParaRPr lang="en-IN" dirty="0"/>
          </a:p>
          <a:p>
            <a:r>
              <a:rPr lang="en-IN" dirty="0"/>
              <a:t>Fig 2: Monthly Cancellation Trend.</a:t>
            </a:r>
          </a:p>
          <a:p>
            <a:pPr lvl="2"/>
            <a:r>
              <a:rPr lang="en-IN" dirty="0"/>
              <a:t>Highest monthly cancellation was in the month of </a:t>
            </a:r>
            <a:r>
              <a:rPr lang="en-IN" b="1" u="sng" dirty="0"/>
              <a:t>October</a:t>
            </a:r>
            <a:r>
              <a:rPr lang="en-IN" dirty="0"/>
              <a:t>.</a:t>
            </a:r>
          </a:p>
        </p:txBody>
      </p:sp>
      <p:pic>
        <p:nvPicPr>
          <p:cNvPr id="13" name="Picture 12" descr="A screenshot of a computer&#10;&#10;AI-generated content may be incorrect.">
            <a:extLst>
              <a:ext uri="{FF2B5EF4-FFF2-40B4-BE49-F238E27FC236}">
                <a16:creationId xmlns:a16="http://schemas.microsoft.com/office/drawing/2014/main" id="{A3172F5B-8A83-A1D4-1571-369D2CD42B25}"/>
              </a:ext>
            </a:extLst>
          </p:cNvPr>
          <p:cNvPicPr>
            <a:picLocks noChangeAspect="1"/>
          </p:cNvPicPr>
          <p:nvPr/>
        </p:nvPicPr>
        <p:blipFill>
          <a:blip r:embed="rId2"/>
          <a:stretch>
            <a:fillRect/>
          </a:stretch>
        </p:blipFill>
        <p:spPr>
          <a:xfrm>
            <a:off x="6788114" y="123176"/>
            <a:ext cx="4663903" cy="2707947"/>
          </a:xfrm>
          <a:prstGeom prst="rect">
            <a:avLst/>
          </a:prstGeom>
        </p:spPr>
      </p:pic>
      <p:pic>
        <p:nvPicPr>
          <p:cNvPr id="15" name="Picture 14" descr="A graph with red line and text&#10;&#10;AI-generated content may be incorrect.">
            <a:extLst>
              <a:ext uri="{FF2B5EF4-FFF2-40B4-BE49-F238E27FC236}">
                <a16:creationId xmlns:a16="http://schemas.microsoft.com/office/drawing/2014/main" id="{AE4B7FDE-197B-D860-F738-2872AAC5D349}"/>
              </a:ext>
            </a:extLst>
          </p:cNvPr>
          <p:cNvPicPr>
            <a:picLocks noChangeAspect="1"/>
          </p:cNvPicPr>
          <p:nvPr/>
        </p:nvPicPr>
        <p:blipFill>
          <a:blip r:embed="rId3"/>
          <a:stretch>
            <a:fillRect/>
          </a:stretch>
        </p:blipFill>
        <p:spPr>
          <a:xfrm>
            <a:off x="6788114" y="2914160"/>
            <a:ext cx="4674608" cy="3143742"/>
          </a:xfrm>
          <a:prstGeom prst="rect">
            <a:avLst/>
          </a:prstGeom>
        </p:spPr>
      </p:pic>
    </p:spTree>
    <p:extLst>
      <p:ext uri="{BB962C8B-B14F-4D97-AF65-F5344CB8AC3E}">
        <p14:creationId xmlns:p14="http://schemas.microsoft.com/office/powerpoint/2010/main" val="4069231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39B50-E013-8201-527F-512AEEE18D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04A6D59-C1B0-2D16-E40C-04CE5CE98646}"/>
              </a:ext>
            </a:extLst>
          </p:cNvPr>
          <p:cNvSpPr>
            <a:spLocks noGrp="1"/>
          </p:cNvSpPr>
          <p:nvPr>
            <p:ph type="title"/>
          </p:nvPr>
        </p:nvSpPr>
        <p:spPr/>
        <p:txBody>
          <a:bodyPr>
            <a:normAutofit fontScale="90000"/>
          </a:bodyPr>
          <a:lstStyle/>
          <a:p>
            <a:r>
              <a:rPr lang="en-IN" dirty="0"/>
              <a:t>EDA Performed ( Clean Data)</a:t>
            </a:r>
          </a:p>
        </p:txBody>
      </p:sp>
      <p:sp>
        <p:nvSpPr>
          <p:cNvPr id="9" name="Content Placeholder 8">
            <a:extLst>
              <a:ext uri="{FF2B5EF4-FFF2-40B4-BE49-F238E27FC236}">
                <a16:creationId xmlns:a16="http://schemas.microsoft.com/office/drawing/2014/main" id="{35DC59A4-D69D-0BF6-DCB5-0D0537678480}"/>
              </a:ext>
            </a:extLst>
          </p:cNvPr>
          <p:cNvSpPr>
            <a:spLocks noGrp="1"/>
          </p:cNvSpPr>
          <p:nvPr>
            <p:ph idx="1"/>
          </p:nvPr>
        </p:nvSpPr>
        <p:spPr/>
        <p:txBody>
          <a:bodyPr/>
          <a:lstStyle/>
          <a:p>
            <a:r>
              <a:rPr lang="en-GB" dirty="0"/>
              <a:t>Fig 1: Sales Trend Over Time.</a:t>
            </a:r>
          </a:p>
          <a:p>
            <a:pPr lvl="2"/>
            <a:r>
              <a:rPr lang="en-GB" dirty="0"/>
              <a:t>The highest sales was made in the month of </a:t>
            </a:r>
            <a:r>
              <a:rPr lang="en-GB" b="1" u="sng" dirty="0"/>
              <a:t>November</a:t>
            </a:r>
            <a:r>
              <a:rPr lang="en-GB" b="1" dirty="0"/>
              <a:t>.</a:t>
            </a:r>
            <a:endParaRPr lang="en-GB" dirty="0"/>
          </a:p>
          <a:p>
            <a:endParaRPr lang="en-IN" dirty="0"/>
          </a:p>
          <a:p>
            <a:endParaRPr lang="en-IN" dirty="0"/>
          </a:p>
          <a:p>
            <a:r>
              <a:rPr lang="en-IN" dirty="0"/>
              <a:t>Fig 2: Top 10 countries by Revenue.</a:t>
            </a:r>
          </a:p>
          <a:p>
            <a:pPr lvl="2"/>
            <a:r>
              <a:rPr lang="en-IN" b="1" u="sng" dirty="0"/>
              <a:t>United Kingdom</a:t>
            </a:r>
            <a:r>
              <a:rPr lang="en-IN" dirty="0"/>
              <a:t> is the highest revenue generator.</a:t>
            </a:r>
          </a:p>
        </p:txBody>
      </p:sp>
      <p:pic>
        <p:nvPicPr>
          <p:cNvPr id="3" name="Picture 2" descr="A graph with blue line and white text&#10;&#10;AI-generated content may be incorrect.">
            <a:extLst>
              <a:ext uri="{FF2B5EF4-FFF2-40B4-BE49-F238E27FC236}">
                <a16:creationId xmlns:a16="http://schemas.microsoft.com/office/drawing/2014/main" id="{03402239-E7F1-E1C0-B19C-D9123FA50B91}"/>
              </a:ext>
            </a:extLst>
          </p:cNvPr>
          <p:cNvPicPr>
            <a:picLocks noChangeAspect="1"/>
          </p:cNvPicPr>
          <p:nvPr/>
        </p:nvPicPr>
        <p:blipFill>
          <a:blip r:embed="rId2"/>
          <a:stretch>
            <a:fillRect/>
          </a:stretch>
        </p:blipFill>
        <p:spPr>
          <a:xfrm>
            <a:off x="6663097" y="301649"/>
            <a:ext cx="4720376" cy="288116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FB83222-8B43-DCEF-C431-6FDACA2F1A28}"/>
              </a:ext>
            </a:extLst>
          </p:cNvPr>
          <p:cNvPicPr>
            <a:picLocks noChangeAspect="1"/>
          </p:cNvPicPr>
          <p:nvPr/>
        </p:nvPicPr>
        <p:blipFill>
          <a:blip r:embed="rId3"/>
          <a:stretch>
            <a:fillRect/>
          </a:stretch>
        </p:blipFill>
        <p:spPr>
          <a:xfrm>
            <a:off x="6663097" y="3301537"/>
            <a:ext cx="4722941" cy="2756365"/>
          </a:xfrm>
          <a:prstGeom prst="rect">
            <a:avLst/>
          </a:prstGeom>
        </p:spPr>
      </p:pic>
    </p:spTree>
    <p:extLst>
      <p:ext uri="{BB962C8B-B14F-4D97-AF65-F5344CB8AC3E}">
        <p14:creationId xmlns:p14="http://schemas.microsoft.com/office/powerpoint/2010/main" val="383663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BBFC7-266B-AA12-1221-9E75F2CB5F8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FEB1080-1910-ED7B-1B6F-2A8B8455395B}"/>
              </a:ext>
            </a:extLst>
          </p:cNvPr>
          <p:cNvSpPr>
            <a:spLocks noGrp="1"/>
          </p:cNvSpPr>
          <p:nvPr>
            <p:ph type="title"/>
          </p:nvPr>
        </p:nvSpPr>
        <p:spPr/>
        <p:txBody>
          <a:bodyPr>
            <a:normAutofit fontScale="90000"/>
          </a:bodyPr>
          <a:lstStyle/>
          <a:p>
            <a:r>
              <a:rPr lang="en-IN" dirty="0"/>
              <a:t>EDA Performed ( Clean Data)</a:t>
            </a:r>
          </a:p>
        </p:txBody>
      </p:sp>
      <p:sp>
        <p:nvSpPr>
          <p:cNvPr id="9" name="Content Placeholder 8">
            <a:extLst>
              <a:ext uri="{FF2B5EF4-FFF2-40B4-BE49-F238E27FC236}">
                <a16:creationId xmlns:a16="http://schemas.microsoft.com/office/drawing/2014/main" id="{91D83703-E118-5217-C029-060C8347F56B}"/>
              </a:ext>
            </a:extLst>
          </p:cNvPr>
          <p:cNvSpPr>
            <a:spLocks noGrp="1"/>
          </p:cNvSpPr>
          <p:nvPr>
            <p:ph idx="1"/>
          </p:nvPr>
        </p:nvSpPr>
        <p:spPr/>
        <p:txBody>
          <a:bodyPr/>
          <a:lstStyle/>
          <a:p>
            <a:r>
              <a:rPr lang="en-GB" dirty="0"/>
              <a:t>Fig 1: Top 10 best selling products.</a:t>
            </a:r>
          </a:p>
          <a:p>
            <a:pPr lvl="2"/>
            <a:r>
              <a:rPr lang="en-GB" dirty="0"/>
              <a:t>The top selling product is </a:t>
            </a:r>
            <a:r>
              <a:rPr lang="en-GB" b="1" u="sng" dirty="0"/>
              <a:t>paper craft, little birdie.</a:t>
            </a:r>
            <a:endParaRPr lang="en-IN" b="1" u="sng" dirty="0"/>
          </a:p>
          <a:p>
            <a:endParaRPr lang="en-IN" dirty="0"/>
          </a:p>
          <a:p>
            <a:r>
              <a:rPr lang="en-IN" dirty="0"/>
              <a:t>Fig 2: Top 10 products by Revenue.</a:t>
            </a:r>
          </a:p>
          <a:p>
            <a:pPr lvl="2"/>
            <a:r>
              <a:rPr lang="en-IN" b="1" u="sng" dirty="0"/>
              <a:t>Dotcom Postage </a:t>
            </a:r>
            <a:r>
              <a:rPr lang="en-IN" dirty="0"/>
              <a:t> generated the maximum revenue.</a:t>
            </a:r>
          </a:p>
        </p:txBody>
      </p:sp>
      <p:pic>
        <p:nvPicPr>
          <p:cNvPr id="4" name="Picture 3" descr="A screen shot of a graph&#10;&#10;AI-generated content may be incorrect.">
            <a:extLst>
              <a:ext uri="{FF2B5EF4-FFF2-40B4-BE49-F238E27FC236}">
                <a16:creationId xmlns:a16="http://schemas.microsoft.com/office/drawing/2014/main" id="{18715D19-C2B6-51CD-CEB0-C2AC85A34E21}"/>
              </a:ext>
            </a:extLst>
          </p:cNvPr>
          <p:cNvPicPr>
            <a:picLocks noChangeAspect="1"/>
          </p:cNvPicPr>
          <p:nvPr/>
        </p:nvPicPr>
        <p:blipFill>
          <a:blip r:embed="rId2"/>
          <a:stretch>
            <a:fillRect/>
          </a:stretch>
        </p:blipFill>
        <p:spPr>
          <a:xfrm>
            <a:off x="6632365" y="289684"/>
            <a:ext cx="4675341" cy="2729897"/>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BD0B35E6-BC86-A740-894C-B2ADA0FC7B4B}"/>
              </a:ext>
            </a:extLst>
          </p:cNvPr>
          <p:cNvPicPr>
            <a:picLocks noChangeAspect="1"/>
          </p:cNvPicPr>
          <p:nvPr/>
        </p:nvPicPr>
        <p:blipFill>
          <a:blip r:embed="rId3"/>
          <a:stretch>
            <a:fillRect/>
          </a:stretch>
        </p:blipFill>
        <p:spPr>
          <a:xfrm>
            <a:off x="6632365" y="3160951"/>
            <a:ext cx="4683186" cy="2729897"/>
          </a:xfrm>
          <a:prstGeom prst="rect">
            <a:avLst/>
          </a:prstGeom>
        </p:spPr>
      </p:pic>
    </p:spTree>
    <p:extLst>
      <p:ext uri="{BB962C8B-B14F-4D97-AF65-F5344CB8AC3E}">
        <p14:creationId xmlns:p14="http://schemas.microsoft.com/office/powerpoint/2010/main" val="3273167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5A7F-9EC5-A62C-008E-F9BFB87479B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A98D169-5FD6-F192-8525-76747B2EA8F5}"/>
              </a:ext>
            </a:extLst>
          </p:cNvPr>
          <p:cNvSpPr>
            <a:spLocks noGrp="1"/>
          </p:cNvSpPr>
          <p:nvPr>
            <p:ph type="title"/>
          </p:nvPr>
        </p:nvSpPr>
        <p:spPr/>
        <p:txBody>
          <a:bodyPr>
            <a:normAutofit fontScale="90000"/>
          </a:bodyPr>
          <a:lstStyle/>
          <a:p>
            <a:r>
              <a:rPr lang="en-IN" dirty="0"/>
              <a:t>EDA Performed ( Clean Data)</a:t>
            </a:r>
          </a:p>
        </p:txBody>
      </p:sp>
      <p:sp>
        <p:nvSpPr>
          <p:cNvPr id="9" name="Content Placeholder 8">
            <a:extLst>
              <a:ext uri="{FF2B5EF4-FFF2-40B4-BE49-F238E27FC236}">
                <a16:creationId xmlns:a16="http://schemas.microsoft.com/office/drawing/2014/main" id="{559F315F-510E-B4CE-2E6D-F0A40717658B}"/>
              </a:ext>
            </a:extLst>
          </p:cNvPr>
          <p:cNvSpPr>
            <a:spLocks noGrp="1"/>
          </p:cNvSpPr>
          <p:nvPr>
            <p:ph idx="1"/>
          </p:nvPr>
        </p:nvSpPr>
        <p:spPr/>
        <p:txBody>
          <a:bodyPr/>
          <a:lstStyle/>
          <a:p>
            <a:r>
              <a:rPr lang="en-GB" dirty="0"/>
              <a:t>Fig 1: One Time vs Repeat Customers.</a:t>
            </a:r>
          </a:p>
          <a:p>
            <a:pPr lvl="2"/>
            <a:r>
              <a:rPr lang="en-GB" dirty="0"/>
              <a:t>Repeat Customers were about 65.6% (2,845).</a:t>
            </a:r>
          </a:p>
          <a:p>
            <a:endParaRPr lang="en-IN" dirty="0"/>
          </a:p>
          <a:p>
            <a:r>
              <a:rPr lang="en-IN" dirty="0"/>
              <a:t>Fig 2: Correlation Heatmap</a:t>
            </a:r>
          </a:p>
          <a:p>
            <a:pPr lvl="2"/>
            <a:r>
              <a:rPr lang="en-GB" b="1" dirty="0"/>
              <a:t>Quantity vs </a:t>
            </a:r>
            <a:r>
              <a:rPr lang="en-GB" b="1" dirty="0" err="1"/>
              <a:t>TotalPrice</a:t>
            </a:r>
            <a:r>
              <a:rPr lang="en-GB" b="1" dirty="0"/>
              <a:t> </a:t>
            </a:r>
            <a:r>
              <a:rPr lang="en-GB" dirty="0"/>
              <a:t>→ </a:t>
            </a:r>
            <a:r>
              <a:rPr lang="en-GB" b="1" dirty="0"/>
              <a:t>0.91 </a:t>
            </a:r>
            <a:r>
              <a:rPr lang="en-GB" dirty="0"/>
              <a:t>(Very Strong Positive Correlation).</a:t>
            </a:r>
          </a:p>
          <a:p>
            <a:pPr lvl="2"/>
            <a:r>
              <a:rPr lang="en-GB" b="1" dirty="0" err="1"/>
              <a:t>UnitPrice</a:t>
            </a:r>
            <a:r>
              <a:rPr lang="en-GB" b="1" dirty="0"/>
              <a:t> vs </a:t>
            </a:r>
            <a:r>
              <a:rPr lang="en-GB" b="1" dirty="0" err="1"/>
              <a:t>TotalPrice</a:t>
            </a:r>
            <a:r>
              <a:rPr lang="en-GB" b="1" dirty="0"/>
              <a:t> </a:t>
            </a:r>
            <a:r>
              <a:rPr lang="en-GB" dirty="0"/>
              <a:t>→ </a:t>
            </a:r>
            <a:r>
              <a:rPr lang="en-GB" b="1" dirty="0"/>
              <a:t>0.14 </a:t>
            </a:r>
            <a:r>
              <a:rPr lang="en-GB" dirty="0"/>
              <a:t>(Weak Positive Correlation)</a:t>
            </a:r>
          </a:p>
          <a:p>
            <a:pPr lvl="2"/>
            <a:endParaRPr lang="en-IN" dirty="0"/>
          </a:p>
        </p:txBody>
      </p:sp>
      <p:pic>
        <p:nvPicPr>
          <p:cNvPr id="3" name="Picture 2" descr="A screenshot of a computer&#10;&#10;AI-generated content may be incorrect.">
            <a:extLst>
              <a:ext uri="{FF2B5EF4-FFF2-40B4-BE49-F238E27FC236}">
                <a16:creationId xmlns:a16="http://schemas.microsoft.com/office/drawing/2014/main" id="{733DC76C-7E43-CA78-37AC-215B9C127B08}"/>
              </a:ext>
            </a:extLst>
          </p:cNvPr>
          <p:cNvPicPr>
            <a:picLocks noChangeAspect="1"/>
          </p:cNvPicPr>
          <p:nvPr/>
        </p:nvPicPr>
        <p:blipFill>
          <a:blip r:embed="rId2"/>
          <a:stretch>
            <a:fillRect/>
          </a:stretch>
        </p:blipFill>
        <p:spPr>
          <a:xfrm>
            <a:off x="6632365" y="349782"/>
            <a:ext cx="3716181" cy="261843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893C6FF1-2676-0BAD-D5D9-097CE30D1D2B}"/>
              </a:ext>
            </a:extLst>
          </p:cNvPr>
          <p:cNvPicPr>
            <a:picLocks noChangeAspect="1"/>
          </p:cNvPicPr>
          <p:nvPr/>
        </p:nvPicPr>
        <p:blipFill>
          <a:blip r:embed="rId3"/>
          <a:stretch>
            <a:fillRect/>
          </a:stretch>
        </p:blipFill>
        <p:spPr>
          <a:xfrm>
            <a:off x="6632365" y="3175390"/>
            <a:ext cx="4621789" cy="2760508"/>
          </a:xfrm>
          <a:prstGeom prst="rect">
            <a:avLst/>
          </a:prstGeom>
        </p:spPr>
      </p:pic>
    </p:spTree>
    <p:extLst>
      <p:ext uri="{BB962C8B-B14F-4D97-AF65-F5344CB8AC3E}">
        <p14:creationId xmlns:p14="http://schemas.microsoft.com/office/powerpoint/2010/main" val="366920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520622" y="335181"/>
            <a:ext cx="10834234" cy="612775"/>
          </a:xfrm>
        </p:spPr>
        <p:txBody>
          <a:bodyPr/>
          <a:lstStyle/>
          <a:p>
            <a:r>
              <a:rPr lang="en-US" dirty="0"/>
              <a:t>EDA — Key Insights</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520622" y="1077198"/>
            <a:ext cx="5417117" cy="5015871"/>
          </a:xfrm>
          <a:prstGeom prst="rect">
            <a:avLst/>
          </a:prstGeom>
        </p:spPr>
        <p:txBody>
          <a:bodyPr>
            <a:normAutofit fontScale="92500" lnSpcReduction="1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Summary Statistics</a:t>
            </a:r>
          </a:p>
          <a:p>
            <a:pPr lvl="1"/>
            <a:r>
              <a:rPr lang="en-US" dirty="0"/>
              <a:t>Total Revenue: 10,642,110  |  Average Order Value: 533  |  Avg Items per Order: 279</a:t>
            </a:r>
          </a:p>
          <a:p>
            <a:pPr lvl="0"/>
            <a:r>
              <a:rPr lang="en-US" b="1" dirty="0"/>
              <a:t>Business Insights</a:t>
            </a:r>
          </a:p>
          <a:p>
            <a:pPr lvl="1"/>
            <a:r>
              <a:rPr lang="en-US" dirty="0"/>
              <a:t>United Kingdom dominates revenue — primarily domestic business</a:t>
            </a:r>
          </a:p>
          <a:p>
            <a:pPr lvl="1"/>
            <a:r>
              <a:rPr lang="en-US" dirty="0"/>
              <a:t>November 2011 highest revenue — strong holiday season impact</a:t>
            </a:r>
          </a:p>
          <a:p>
            <a:pPr lvl="1"/>
            <a:r>
              <a:rPr lang="en-US" dirty="0"/>
              <a:t>Peak purchasing: 10 AM on Thursdays — ideal for email campaigns</a:t>
            </a:r>
          </a:p>
          <a:p>
            <a:pPr lvl="1"/>
            <a:r>
              <a:rPr lang="en-US" dirty="0"/>
              <a:t>65.6% repeat customers (2,845)  |  34.4% one-time customers (1,493)</a:t>
            </a:r>
          </a:p>
          <a:p>
            <a:pPr lvl="1"/>
            <a:r>
              <a:rPr lang="en-US" dirty="0"/>
              <a:t>High AOV of 533 suggests wholesale/B2B purchasing </a:t>
            </a:r>
            <a:r>
              <a:rPr lang="en-US" dirty="0" err="1"/>
              <a:t>behaviour</a:t>
            </a:r>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6960FF9D-33D6-0D00-18A7-89EB9D7B330D}"/>
              </a:ext>
            </a:extLst>
          </p:cNvPr>
          <p:cNvPicPr>
            <a:picLocks noChangeAspect="1"/>
          </p:cNvPicPr>
          <p:nvPr/>
        </p:nvPicPr>
        <p:blipFill>
          <a:blip r:embed="rId2"/>
          <a:stretch>
            <a:fillRect/>
          </a:stretch>
        </p:blipFill>
        <p:spPr>
          <a:xfrm>
            <a:off x="5937739" y="1509274"/>
            <a:ext cx="5810932" cy="3651810"/>
          </a:xfrm>
          <a:prstGeom prst="rect">
            <a:avLst/>
          </a:prstGeom>
        </p:spPr>
      </p:pic>
    </p:spTree>
    <p:extLst>
      <p:ext uri="{BB962C8B-B14F-4D97-AF65-F5344CB8AC3E}">
        <p14:creationId xmlns:p14="http://schemas.microsoft.com/office/powerpoint/2010/main" val="2272459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r>
              <a:rPr lang="en-US" b="1" dirty="0"/>
              <a:t>RFM Feature Engineering</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lstStyle/>
          <a:p>
            <a:r>
              <a:rPr lang="en-US" dirty="0"/>
              <a:t>Quantifying customer behaviour through </a:t>
            </a:r>
            <a:r>
              <a:rPr lang="en-US" b="1" dirty="0"/>
              <a:t>Recency</a:t>
            </a:r>
            <a:r>
              <a:rPr lang="en-US" dirty="0"/>
              <a:t>, </a:t>
            </a:r>
            <a:r>
              <a:rPr lang="en-US" b="1" dirty="0"/>
              <a:t>Frequency</a:t>
            </a:r>
            <a:r>
              <a:rPr lang="en-US" dirty="0"/>
              <a:t> and </a:t>
            </a:r>
            <a:r>
              <a:rPr lang="en-US" b="1" dirty="0"/>
              <a:t>Monetary</a:t>
            </a:r>
            <a:r>
              <a:rPr lang="en-US" dirty="0"/>
              <a:t> analysis</a:t>
            </a:r>
          </a:p>
        </p:txBody>
      </p:sp>
      <p:graphicFrame>
        <p:nvGraphicFramePr>
          <p:cNvPr id="2" name="Table 1">
            <a:extLst>
              <a:ext uri="{FF2B5EF4-FFF2-40B4-BE49-F238E27FC236}">
                <a16:creationId xmlns:a16="http://schemas.microsoft.com/office/drawing/2014/main" id="{CE3C089C-0934-4493-98FF-FB95B8DE3DE4}"/>
              </a:ext>
            </a:extLst>
          </p:cNvPr>
          <p:cNvGraphicFramePr>
            <a:graphicFrameLocks noGrp="1"/>
          </p:cNvGraphicFramePr>
          <p:nvPr>
            <p:extLst>
              <p:ext uri="{D42A27DB-BD31-4B8C-83A1-F6EECF244321}">
                <p14:modId xmlns:p14="http://schemas.microsoft.com/office/powerpoint/2010/main" val="2489680088"/>
              </p:ext>
            </p:extLst>
          </p:nvPr>
        </p:nvGraphicFramePr>
        <p:xfrm>
          <a:off x="829129" y="3068515"/>
          <a:ext cx="6687117" cy="2777112"/>
        </p:xfrm>
        <a:graphic>
          <a:graphicData uri="http://schemas.openxmlformats.org/drawingml/2006/table">
            <a:tbl>
              <a:tblPr firstRow="1" bandRow="1">
                <a:tableStyleId>{5C22544A-7EE6-4342-B048-85BDC9FD1C3A}</a:tableStyleId>
              </a:tblPr>
              <a:tblGrid>
                <a:gridCol w="2229039">
                  <a:extLst>
                    <a:ext uri="{9D8B030D-6E8A-4147-A177-3AD203B41FA5}">
                      <a16:colId xmlns:a16="http://schemas.microsoft.com/office/drawing/2014/main" val="3270569704"/>
                    </a:ext>
                  </a:extLst>
                </a:gridCol>
                <a:gridCol w="2229039">
                  <a:extLst>
                    <a:ext uri="{9D8B030D-6E8A-4147-A177-3AD203B41FA5}">
                      <a16:colId xmlns:a16="http://schemas.microsoft.com/office/drawing/2014/main" val="1067843650"/>
                    </a:ext>
                  </a:extLst>
                </a:gridCol>
                <a:gridCol w="2229039">
                  <a:extLst>
                    <a:ext uri="{9D8B030D-6E8A-4147-A177-3AD203B41FA5}">
                      <a16:colId xmlns:a16="http://schemas.microsoft.com/office/drawing/2014/main" val="3184054308"/>
                    </a:ext>
                  </a:extLst>
                </a:gridCol>
              </a:tblGrid>
              <a:tr h="429859">
                <a:tc>
                  <a:txBody>
                    <a:bodyPr/>
                    <a:lstStyle/>
                    <a:p>
                      <a:pPr algn="ctr">
                        <a:buNone/>
                      </a:pPr>
                      <a:r>
                        <a:rPr lang="en-IN" sz="1000" b="1" dirty="0">
                          <a:solidFill>
                            <a:srgbClr val="FFFFFF"/>
                          </a:solidFill>
                          <a:effectLst/>
                          <a:latin typeface="Arial" panose="020B0604020202020204" pitchFamily="34" charset="0"/>
                          <a:ea typeface="Arial" panose="020B0604020202020204" pitchFamily="34" charset="0"/>
                        </a:rPr>
                        <a:t>Feature</a:t>
                      </a:r>
                      <a:endParaRPr lang="en-IN" sz="11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b="1" dirty="0">
                          <a:solidFill>
                            <a:srgbClr val="FFFFFF"/>
                          </a:solidFill>
                          <a:effectLst/>
                          <a:latin typeface="Arial" panose="020B0604020202020204" pitchFamily="34" charset="0"/>
                          <a:ea typeface="Arial" panose="020B0604020202020204" pitchFamily="34" charset="0"/>
                        </a:rPr>
                        <a:t>Definition</a:t>
                      </a:r>
                      <a:endParaRPr lang="en-IN" sz="11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b="1">
                          <a:solidFill>
                            <a:srgbClr val="FFFFFF"/>
                          </a:solidFill>
                          <a:effectLst/>
                          <a:latin typeface="Arial" panose="020B0604020202020204" pitchFamily="34" charset="0"/>
                          <a:ea typeface="Arial" panose="020B0604020202020204" pitchFamily="34" charset="0"/>
                        </a:rPr>
                        <a:t>Calculation</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4020425501"/>
                  </a:ext>
                </a:extLst>
              </a:tr>
              <a:tr h="771545">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Recency</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How recently did the customer purchase?</a:t>
                      </a:r>
                      <a:endParaRPr lang="en-IN" sz="11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Days between last purchase and snapshot date</a:t>
                      </a:r>
                      <a:endParaRPr lang="en-IN" sz="11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103834071"/>
                  </a:ext>
                </a:extLst>
              </a:tr>
              <a:tr h="769244">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Frequency</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How often does the customer purchase?</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Count of unique invoice numbers per customer</a:t>
                      </a:r>
                      <a:endParaRPr lang="en-IN" sz="11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2114205223"/>
                  </a:ext>
                </a:extLst>
              </a:tr>
              <a:tr h="806464">
                <a:tc>
                  <a:txBody>
                    <a:bodyPr/>
                    <a:lstStyle/>
                    <a:p>
                      <a:pPr algn="ctr">
                        <a:buNone/>
                      </a:pPr>
                      <a:r>
                        <a:rPr lang="en-IN" sz="1000">
                          <a:solidFill>
                            <a:srgbClr val="000000"/>
                          </a:solidFill>
                          <a:effectLst/>
                          <a:latin typeface="Arial" panose="020B0604020202020204" pitchFamily="34" charset="0"/>
                          <a:ea typeface="Arial" panose="020B0604020202020204" pitchFamily="34" charset="0"/>
                        </a:rPr>
                        <a:t>Monetary</a:t>
                      </a:r>
                      <a:endParaRPr lang="en-IN" sz="110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How much does the customer spend?</a:t>
                      </a:r>
                      <a:endParaRPr lang="en-IN" sz="11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buNone/>
                      </a:pPr>
                      <a:r>
                        <a:rPr lang="en-IN" sz="1000" dirty="0">
                          <a:solidFill>
                            <a:srgbClr val="000000"/>
                          </a:solidFill>
                          <a:effectLst/>
                          <a:latin typeface="Arial" panose="020B0604020202020204" pitchFamily="34" charset="0"/>
                          <a:ea typeface="Arial" panose="020B0604020202020204" pitchFamily="34" charset="0"/>
                        </a:rPr>
                        <a:t>Sum of </a:t>
                      </a:r>
                      <a:r>
                        <a:rPr lang="en-IN" sz="1000" dirty="0" err="1">
                          <a:solidFill>
                            <a:srgbClr val="000000"/>
                          </a:solidFill>
                          <a:effectLst/>
                          <a:latin typeface="Arial" panose="020B0604020202020204" pitchFamily="34" charset="0"/>
                          <a:ea typeface="Arial" panose="020B0604020202020204" pitchFamily="34" charset="0"/>
                        </a:rPr>
                        <a:t>TotalPrice</a:t>
                      </a:r>
                      <a:r>
                        <a:rPr lang="en-IN" sz="1000" dirty="0">
                          <a:solidFill>
                            <a:srgbClr val="000000"/>
                          </a:solidFill>
                          <a:effectLst/>
                          <a:latin typeface="Arial" panose="020B0604020202020204" pitchFamily="34" charset="0"/>
                          <a:ea typeface="Arial" panose="020B0604020202020204" pitchFamily="34" charset="0"/>
                        </a:rPr>
                        <a:t> per customer</a:t>
                      </a:r>
                      <a:endParaRPr lang="en-IN" sz="11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2175111708"/>
                  </a:ext>
                </a:extLst>
              </a:tr>
            </a:tbl>
          </a:graphicData>
        </a:graphic>
      </p:graphicFrame>
    </p:spTree>
    <p:extLst>
      <p:ext uri="{BB962C8B-B14F-4D97-AF65-F5344CB8AC3E}">
        <p14:creationId xmlns:p14="http://schemas.microsoft.com/office/powerpoint/2010/main" val="1344420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3" y="313520"/>
            <a:ext cx="10834234" cy="612775"/>
          </a:xfrm>
        </p:spPr>
        <p:txBody>
          <a:bodyPr/>
          <a:lstStyle/>
          <a:p>
            <a:r>
              <a:rPr lang="en-US" dirty="0"/>
              <a:t>RFM Feature Engineering</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3" y="1059614"/>
            <a:ext cx="10834234" cy="1929771"/>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What is RFM?</a:t>
            </a:r>
          </a:p>
          <a:p>
            <a:pPr lvl="1"/>
            <a:r>
              <a:rPr lang="en-US" dirty="0"/>
              <a:t>Recency: Days since last purchase (lower = better)</a:t>
            </a:r>
          </a:p>
          <a:p>
            <a:pPr lvl="1"/>
            <a:r>
              <a:rPr lang="en-US" dirty="0"/>
              <a:t>Frequency: Number of unique invoices per customer (higher = better)</a:t>
            </a:r>
          </a:p>
          <a:p>
            <a:pPr lvl="1"/>
            <a:r>
              <a:rPr lang="en-US" dirty="0"/>
              <a:t>Monetary: Total spend per customer in GBP (higher = better)</a:t>
            </a:r>
          </a:p>
        </p:txBody>
      </p:sp>
      <p:pic>
        <p:nvPicPr>
          <p:cNvPr id="5" name="Picture 4" descr="A screenshot of a computer&#10;&#10;AI-generated content may be incorrect.">
            <a:extLst>
              <a:ext uri="{FF2B5EF4-FFF2-40B4-BE49-F238E27FC236}">
                <a16:creationId xmlns:a16="http://schemas.microsoft.com/office/drawing/2014/main" id="{6ECE6873-8A77-01F7-3417-AA413252120A}"/>
              </a:ext>
            </a:extLst>
          </p:cNvPr>
          <p:cNvPicPr>
            <a:picLocks noChangeAspect="1"/>
          </p:cNvPicPr>
          <p:nvPr/>
        </p:nvPicPr>
        <p:blipFill>
          <a:blip r:embed="rId2"/>
          <a:stretch>
            <a:fillRect/>
          </a:stretch>
        </p:blipFill>
        <p:spPr>
          <a:xfrm>
            <a:off x="2762660" y="2787162"/>
            <a:ext cx="5436420" cy="3393782"/>
          </a:xfrm>
          <a:prstGeom prst="rect">
            <a:avLst/>
          </a:prstGeom>
        </p:spPr>
      </p:pic>
    </p:spTree>
    <p:extLst>
      <p:ext uri="{BB962C8B-B14F-4D97-AF65-F5344CB8AC3E}">
        <p14:creationId xmlns:p14="http://schemas.microsoft.com/office/powerpoint/2010/main" val="2272459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AD453-F3B7-D731-1B5E-27C1AD790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09558-D2B0-E6A0-9642-E6435180C6DC}"/>
              </a:ext>
            </a:extLst>
          </p:cNvPr>
          <p:cNvSpPr>
            <a:spLocks noGrp="1"/>
          </p:cNvSpPr>
          <p:nvPr>
            <p:ph type="title"/>
          </p:nvPr>
        </p:nvSpPr>
        <p:spPr>
          <a:xfrm>
            <a:off x="678883" y="313520"/>
            <a:ext cx="10834234" cy="612775"/>
          </a:xfrm>
        </p:spPr>
        <p:txBody>
          <a:bodyPr/>
          <a:lstStyle/>
          <a:p>
            <a:r>
              <a:rPr lang="en-US" dirty="0"/>
              <a:t>RFM Feature Engineering</a:t>
            </a:r>
            <a:endParaRPr lang="en-IN" dirty="0"/>
          </a:p>
        </p:txBody>
      </p:sp>
      <p:sp>
        <p:nvSpPr>
          <p:cNvPr id="3" name="Content Placeholder 2">
            <a:extLst>
              <a:ext uri="{FF2B5EF4-FFF2-40B4-BE49-F238E27FC236}">
                <a16:creationId xmlns:a16="http://schemas.microsoft.com/office/drawing/2014/main" id="{42F70B2B-F96F-4089-267A-DAEFB36A6C65}"/>
              </a:ext>
            </a:extLst>
          </p:cNvPr>
          <p:cNvSpPr>
            <a:spLocks noGrp="1"/>
          </p:cNvSpPr>
          <p:nvPr>
            <p:ph idx="1"/>
          </p:nvPr>
        </p:nvSpPr>
        <p:spPr>
          <a:xfrm>
            <a:off x="678883" y="1059614"/>
            <a:ext cx="10834234" cy="1701171"/>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Preprocessing Steps</a:t>
            </a:r>
          </a:p>
          <a:p>
            <a:pPr lvl="1"/>
            <a:r>
              <a:rPr lang="en-US" dirty="0"/>
              <a:t>Log1p Transformation: Reduces right skew in all 3 RFM features</a:t>
            </a:r>
          </a:p>
          <a:p>
            <a:pPr lvl="1"/>
            <a:r>
              <a:rPr lang="en-US" dirty="0"/>
              <a:t>Train-Test Split BEFORE scaling: Prevents data leakage</a:t>
            </a:r>
          </a:p>
          <a:p>
            <a:pPr lvl="1"/>
            <a:r>
              <a:rPr lang="en-US" dirty="0"/>
              <a:t>StandardScaler fitted on training data only (3,470 customers)</a:t>
            </a:r>
          </a:p>
        </p:txBody>
      </p:sp>
      <p:pic>
        <p:nvPicPr>
          <p:cNvPr id="5" name="Picture 4" descr="A screenshot of a computer&#10;&#10;AI-generated content may be incorrect.">
            <a:extLst>
              <a:ext uri="{FF2B5EF4-FFF2-40B4-BE49-F238E27FC236}">
                <a16:creationId xmlns:a16="http://schemas.microsoft.com/office/drawing/2014/main" id="{8BD3D05F-86C6-67C8-CA31-293F65D06CB0}"/>
              </a:ext>
            </a:extLst>
          </p:cNvPr>
          <p:cNvPicPr>
            <a:picLocks noChangeAspect="1"/>
          </p:cNvPicPr>
          <p:nvPr/>
        </p:nvPicPr>
        <p:blipFill>
          <a:blip r:embed="rId2"/>
          <a:stretch>
            <a:fillRect/>
          </a:stretch>
        </p:blipFill>
        <p:spPr>
          <a:xfrm>
            <a:off x="1219981" y="2826585"/>
            <a:ext cx="4386069" cy="2971801"/>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8FAC8492-607C-512F-C6BD-EE64C56CF17E}"/>
              </a:ext>
            </a:extLst>
          </p:cNvPr>
          <p:cNvPicPr>
            <a:picLocks noChangeAspect="1"/>
          </p:cNvPicPr>
          <p:nvPr/>
        </p:nvPicPr>
        <p:blipFill>
          <a:blip r:embed="rId3"/>
          <a:stretch>
            <a:fillRect/>
          </a:stretch>
        </p:blipFill>
        <p:spPr>
          <a:xfrm>
            <a:off x="5893241" y="2826585"/>
            <a:ext cx="4596284" cy="2971801"/>
          </a:xfrm>
          <a:prstGeom prst="rect">
            <a:avLst/>
          </a:prstGeom>
        </p:spPr>
      </p:pic>
    </p:spTree>
    <p:extLst>
      <p:ext uri="{BB962C8B-B14F-4D97-AF65-F5344CB8AC3E}">
        <p14:creationId xmlns:p14="http://schemas.microsoft.com/office/powerpoint/2010/main" val="2261708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normAutofit fontScale="90000"/>
          </a:bodyPr>
          <a:lstStyle/>
          <a:p>
            <a:r>
              <a:rPr lang="en-US" b="1" dirty="0"/>
              <a:t>Customer Segmentation (Unsupervised ML)</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normAutofit/>
          </a:bodyPr>
          <a:lstStyle/>
          <a:p>
            <a:r>
              <a:rPr lang="en-US" dirty="0"/>
              <a:t>Finding the Optimal K:</a:t>
            </a:r>
          </a:p>
          <a:p>
            <a:pPr lvl="2"/>
            <a:r>
              <a:rPr lang="en-US" dirty="0"/>
              <a:t>Elbow Method</a:t>
            </a:r>
          </a:p>
          <a:p>
            <a:pPr lvl="2"/>
            <a:r>
              <a:rPr lang="en-US" dirty="0"/>
              <a:t>Silhouette Score</a:t>
            </a:r>
          </a:p>
          <a:p>
            <a:pPr marL="0" indent="0">
              <a:buNone/>
            </a:pPr>
            <a:endParaRPr lang="en-US" dirty="0"/>
          </a:p>
          <a:p>
            <a:r>
              <a:rPr lang="en-US" dirty="0"/>
              <a:t>Grouping customers using unsupervised machine learning algorithms.</a:t>
            </a:r>
          </a:p>
          <a:p>
            <a:pPr lvl="2"/>
            <a:r>
              <a:rPr lang="en-US" dirty="0"/>
              <a:t>K-Means</a:t>
            </a:r>
          </a:p>
          <a:p>
            <a:pPr lvl="2"/>
            <a:r>
              <a:rPr lang="en-IN" dirty="0"/>
              <a:t>Hierarchical Clustering</a:t>
            </a:r>
          </a:p>
          <a:p>
            <a:pPr lvl="2"/>
            <a:r>
              <a:rPr lang="en-IN" dirty="0"/>
              <a:t>DBSCAN.</a:t>
            </a:r>
          </a:p>
        </p:txBody>
      </p:sp>
    </p:spTree>
    <p:extLst>
      <p:ext uri="{BB962C8B-B14F-4D97-AF65-F5344CB8AC3E}">
        <p14:creationId xmlns:p14="http://schemas.microsoft.com/office/powerpoint/2010/main" val="1344420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3" y="313520"/>
            <a:ext cx="10834234" cy="612775"/>
          </a:xfrm>
        </p:spPr>
        <p:txBody>
          <a:bodyPr/>
          <a:lstStyle/>
          <a:p>
            <a:r>
              <a:rPr lang="en-US" dirty="0"/>
              <a:t>Customer Segmentation</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3" y="1015651"/>
            <a:ext cx="10834234" cy="1753926"/>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Algorithm Comparison</a:t>
            </a:r>
          </a:p>
          <a:p>
            <a:pPr lvl="1"/>
            <a:r>
              <a:rPr lang="en-US" dirty="0"/>
              <a:t>KMeans (K=4): Silhouette 0.3373 — Best, clear balanced segments</a:t>
            </a:r>
          </a:p>
          <a:p>
            <a:pPr lvl="1"/>
            <a:r>
              <a:rPr lang="en-US" dirty="0"/>
              <a:t>Hierarchical Clustering: Silhouette 0.3019 — Good but less interpretable</a:t>
            </a:r>
          </a:p>
          <a:p>
            <a:pPr lvl="1"/>
            <a:r>
              <a:rPr lang="en-US" dirty="0"/>
              <a:t>DBSCAN: Silhouette 0.2930 — Poor, 62 noise points, unsuitable</a:t>
            </a:r>
          </a:p>
        </p:txBody>
      </p:sp>
      <p:pic>
        <p:nvPicPr>
          <p:cNvPr id="7" name="Picture 6" descr="A screen shot of a graph&#10;&#10;AI-generated content may be incorrect.">
            <a:extLst>
              <a:ext uri="{FF2B5EF4-FFF2-40B4-BE49-F238E27FC236}">
                <a16:creationId xmlns:a16="http://schemas.microsoft.com/office/drawing/2014/main" id="{A963B554-C29E-DD86-5511-17C0E828A788}"/>
              </a:ext>
            </a:extLst>
          </p:cNvPr>
          <p:cNvPicPr>
            <a:picLocks noChangeAspect="1"/>
          </p:cNvPicPr>
          <p:nvPr/>
        </p:nvPicPr>
        <p:blipFill>
          <a:blip r:embed="rId2"/>
          <a:stretch>
            <a:fillRect/>
          </a:stretch>
        </p:blipFill>
        <p:spPr>
          <a:xfrm>
            <a:off x="92198" y="3216678"/>
            <a:ext cx="3563366" cy="2542284"/>
          </a:xfrm>
          <a:prstGeom prst="rect">
            <a:avLst/>
          </a:prstGeom>
        </p:spPr>
      </p:pic>
      <p:pic>
        <p:nvPicPr>
          <p:cNvPr id="9" name="Picture 8" descr="A graph with red line&#10;&#10;AI-generated content may be incorrect.">
            <a:extLst>
              <a:ext uri="{FF2B5EF4-FFF2-40B4-BE49-F238E27FC236}">
                <a16:creationId xmlns:a16="http://schemas.microsoft.com/office/drawing/2014/main" id="{E58F861B-3DB1-8FC3-C5C7-748D4350E547}"/>
              </a:ext>
            </a:extLst>
          </p:cNvPr>
          <p:cNvPicPr>
            <a:picLocks noChangeAspect="1"/>
          </p:cNvPicPr>
          <p:nvPr/>
        </p:nvPicPr>
        <p:blipFill>
          <a:blip r:embed="rId3"/>
          <a:stretch>
            <a:fillRect/>
          </a:stretch>
        </p:blipFill>
        <p:spPr>
          <a:xfrm>
            <a:off x="3920510" y="3208518"/>
            <a:ext cx="4093080" cy="2558604"/>
          </a:xfrm>
          <a:prstGeom prst="rect">
            <a:avLst/>
          </a:prstGeom>
        </p:spPr>
      </p:pic>
      <p:pic>
        <p:nvPicPr>
          <p:cNvPr id="11" name="Picture 10" descr="A screen shot of a diagram&#10;&#10;AI-generated content may be incorrect.">
            <a:extLst>
              <a:ext uri="{FF2B5EF4-FFF2-40B4-BE49-F238E27FC236}">
                <a16:creationId xmlns:a16="http://schemas.microsoft.com/office/drawing/2014/main" id="{A107183B-70CD-042D-2416-B898401405FC}"/>
              </a:ext>
            </a:extLst>
          </p:cNvPr>
          <p:cNvPicPr>
            <a:picLocks noChangeAspect="1"/>
          </p:cNvPicPr>
          <p:nvPr/>
        </p:nvPicPr>
        <p:blipFill>
          <a:blip r:embed="rId4"/>
          <a:stretch>
            <a:fillRect/>
          </a:stretch>
        </p:blipFill>
        <p:spPr>
          <a:xfrm>
            <a:off x="8278536" y="3372976"/>
            <a:ext cx="3821265" cy="2469373"/>
          </a:xfrm>
          <a:prstGeom prst="rect">
            <a:avLst/>
          </a:prstGeom>
        </p:spPr>
      </p:pic>
    </p:spTree>
    <p:extLst>
      <p:ext uri="{BB962C8B-B14F-4D97-AF65-F5344CB8AC3E}">
        <p14:creationId xmlns:p14="http://schemas.microsoft.com/office/powerpoint/2010/main" val="2272459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146FE-13D3-1296-751B-3EAB9DB25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43792-679F-39BC-7E0E-C3CFD4A11AC0}"/>
              </a:ext>
            </a:extLst>
          </p:cNvPr>
          <p:cNvSpPr>
            <a:spLocks noGrp="1"/>
          </p:cNvSpPr>
          <p:nvPr>
            <p:ph type="title"/>
          </p:nvPr>
        </p:nvSpPr>
        <p:spPr>
          <a:xfrm>
            <a:off x="678883" y="251974"/>
            <a:ext cx="10834234" cy="612775"/>
          </a:xfrm>
        </p:spPr>
        <p:txBody>
          <a:bodyPr/>
          <a:lstStyle/>
          <a:p>
            <a:r>
              <a:rPr lang="en-US" dirty="0"/>
              <a:t>Customer Segmentation</a:t>
            </a:r>
            <a:endParaRPr lang="en-IN" dirty="0"/>
          </a:p>
        </p:txBody>
      </p:sp>
      <p:sp>
        <p:nvSpPr>
          <p:cNvPr id="3" name="Content Placeholder 2">
            <a:extLst>
              <a:ext uri="{FF2B5EF4-FFF2-40B4-BE49-F238E27FC236}">
                <a16:creationId xmlns:a16="http://schemas.microsoft.com/office/drawing/2014/main" id="{28D800CD-5307-982F-DF68-7535E27F27CD}"/>
              </a:ext>
            </a:extLst>
          </p:cNvPr>
          <p:cNvSpPr>
            <a:spLocks noGrp="1"/>
          </p:cNvSpPr>
          <p:nvPr>
            <p:ph idx="1"/>
          </p:nvPr>
        </p:nvSpPr>
        <p:spPr>
          <a:xfrm>
            <a:off x="678883" y="971691"/>
            <a:ext cx="10834234" cy="2114409"/>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Segment Profiles (K=4)</a:t>
            </a:r>
          </a:p>
          <a:p>
            <a:pPr lvl="1"/>
            <a:r>
              <a:rPr lang="en-US" dirty="0"/>
              <a:t>Champions (1,167): Low recency, high frequency, high spend</a:t>
            </a:r>
          </a:p>
          <a:p>
            <a:pPr lvl="1"/>
            <a:r>
              <a:rPr lang="en-US" dirty="0"/>
              <a:t>Loyal Customers (721): Consistent buyers, moderate engagement</a:t>
            </a:r>
          </a:p>
          <a:p>
            <a:pPr lvl="1"/>
            <a:r>
              <a:rPr lang="en-US" dirty="0"/>
              <a:t>At-Risk Customers (833): Previously active, declining engagement</a:t>
            </a:r>
          </a:p>
          <a:p>
            <a:pPr lvl="1"/>
            <a:r>
              <a:rPr lang="en-US" dirty="0"/>
              <a:t>Lost Customers (1,617): Inactive, high recency, very low spend</a:t>
            </a:r>
          </a:p>
        </p:txBody>
      </p:sp>
      <p:pic>
        <p:nvPicPr>
          <p:cNvPr id="5" name="Picture 4" descr="A screenshot of a computer&#10;&#10;AI-generated content may be incorrect.">
            <a:extLst>
              <a:ext uri="{FF2B5EF4-FFF2-40B4-BE49-F238E27FC236}">
                <a16:creationId xmlns:a16="http://schemas.microsoft.com/office/drawing/2014/main" id="{C972BE08-0B55-5AD5-4EE8-5F8D8D1C7B21}"/>
              </a:ext>
            </a:extLst>
          </p:cNvPr>
          <p:cNvPicPr>
            <a:picLocks noChangeAspect="1"/>
          </p:cNvPicPr>
          <p:nvPr/>
        </p:nvPicPr>
        <p:blipFill>
          <a:blip r:embed="rId2"/>
          <a:stretch>
            <a:fillRect/>
          </a:stretch>
        </p:blipFill>
        <p:spPr>
          <a:xfrm>
            <a:off x="3122870" y="3086100"/>
            <a:ext cx="4491340" cy="2935196"/>
          </a:xfrm>
          <a:prstGeom prst="rect">
            <a:avLst/>
          </a:prstGeom>
        </p:spPr>
      </p:pic>
    </p:spTree>
    <p:extLst>
      <p:ext uri="{BB962C8B-B14F-4D97-AF65-F5344CB8AC3E}">
        <p14:creationId xmlns:p14="http://schemas.microsoft.com/office/powerpoint/2010/main" val="1015991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a:xfrm>
            <a:off x="678882" y="358737"/>
            <a:ext cx="6687118" cy="612775"/>
          </a:xfrm>
        </p:spPr>
        <p:txBody>
          <a:bodyPr>
            <a:normAutofit fontScale="90000"/>
          </a:bodyPr>
          <a:lstStyle/>
          <a:p>
            <a:r>
              <a:rPr lang="en-US" b="1" dirty="0"/>
              <a:t>Predictive Classification (Supervised ML)</a:t>
            </a: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a:xfrm>
            <a:off x="678882" y="1216441"/>
            <a:ext cx="6687118" cy="4841460"/>
          </a:xfrm>
        </p:spPr>
        <p:txBody>
          <a:bodyPr>
            <a:normAutofit/>
          </a:bodyPr>
          <a:lstStyle/>
          <a:p>
            <a:r>
              <a:rPr lang="en-US" dirty="0"/>
              <a:t>Training supervised models to predict customer segments in real time.</a:t>
            </a:r>
          </a:p>
          <a:p>
            <a:r>
              <a:rPr lang="en-US" b="1" dirty="0"/>
              <a:t>Why use Supervised ML</a:t>
            </a:r>
            <a:r>
              <a:rPr lang="en-US" dirty="0"/>
              <a:t>:</a:t>
            </a:r>
          </a:p>
          <a:p>
            <a:pPr lvl="1"/>
            <a:r>
              <a:rPr lang="en-IN" dirty="0" err="1"/>
              <a:t>KMeans</a:t>
            </a:r>
            <a:r>
              <a:rPr lang="en-IN" dirty="0"/>
              <a:t> assigns segments to existing customers in the dataset</a:t>
            </a:r>
          </a:p>
          <a:p>
            <a:pPr lvl="1"/>
            <a:r>
              <a:rPr lang="en-IN" dirty="0"/>
              <a:t>New customers with no prior history cannot be clustered without re-running </a:t>
            </a:r>
            <a:r>
              <a:rPr lang="en-IN" dirty="0" err="1"/>
              <a:t>KMeans</a:t>
            </a:r>
            <a:endParaRPr lang="en-IN" dirty="0"/>
          </a:p>
          <a:p>
            <a:pPr lvl="1"/>
            <a:r>
              <a:rPr lang="en-IN" dirty="0"/>
              <a:t>A trained classifier can instantly predict the segment of any new customer from just 3 input values</a:t>
            </a:r>
          </a:p>
          <a:p>
            <a:pPr lvl="1"/>
            <a:r>
              <a:rPr lang="en-IN" dirty="0"/>
              <a:t>This makes the model production-ready and deployable in real-time applications</a:t>
            </a:r>
          </a:p>
          <a:p>
            <a:pPr lvl="1"/>
            <a:endParaRPr lang="en-US" dirty="0"/>
          </a:p>
        </p:txBody>
      </p:sp>
    </p:spTree>
    <p:extLst>
      <p:ext uri="{BB962C8B-B14F-4D97-AF65-F5344CB8AC3E}">
        <p14:creationId xmlns:p14="http://schemas.microsoft.com/office/powerpoint/2010/main" val="1594365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3" y="326080"/>
            <a:ext cx="10834234" cy="612775"/>
          </a:xfrm>
        </p:spPr>
        <p:txBody>
          <a:bodyPr/>
          <a:lstStyle/>
          <a:p>
            <a:r>
              <a:rPr lang="en-US" dirty="0"/>
              <a:t>Predictive Classification — Results</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3" y="1100644"/>
            <a:ext cx="10834234" cy="175392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Model Performance (Test Set)</a:t>
            </a:r>
          </a:p>
          <a:p>
            <a:pPr lvl="1"/>
            <a:r>
              <a:rPr lang="en-US" dirty="0"/>
              <a:t>Logistic Regression: Accuracy 0.9965  |  F1 0.9965  |  CV F1 0.9931 ✔</a:t>
            </a:r>
          </a:p>
          <a:p>
            <a:pPr lvl="1"/>
            <a:r>
              <a:rPr lang="en-US" dirty="0"/>
              <a:t>Random Forest:       Accuracy 0.9862  |  F1 0.9861  |  CV F1 0.9741</a:t>
            </a:r>
          </a:p>
          <a:p>
            <a:pPr lvl="1"/>
            <a:r>
              <a:rPr lang="en-US" dirty="0"/>
              <a:t>XGBoost:             Accuracy 0.9827  |  F1 0.9827  |  CV F1 0.9775</a:t>
            </a:r>
          </a:p>
        </p:txBody>
      </p:sp>
      <p:pic>
        <p:nvPicPr>
          <p:cNvPr id="5" name="Picture 4" descr="A screenshot of a computer code&#10;&#10;AI-generated content may be incorrect.">
            <a:extLst>
              <a:ext uri="{FF2B5EF4-FFF2-40B4-BE49-F238E27FC236}">
                <a16:creationId xmlns:a16="http://schemas.microsoft.com/office/drawing/2014/main" id="{D0F43429-A937-A39B-61EC-AEF6250578FF}"/>
              </a:ext>
            </a:extLst>
          </p:cNvPr>
          <p:cNvPicPr>
            <a:picLocks noChangeAspect="1"/>
          </p:cNvPicPr>
          <p:nvPr/>
        </p:nvPicPr>
        <p:blipFill>
          <a:blip r:embed="rId2"/>
          <a:stretch>
            <a:fillRect/>
          </a:stretch>
        </p:blipFill>
        <p:spPr>
          <a:xfrm>
            <a:off x="1477108" y="3246490"/>
            <a:ext cx="4278903" cy="2384318"/>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D18A0046-7369-5F06-954E-0E0FF443DD70}"/>
              </a:ext>
            </a:extLst>
          </p:cNvPr>
          <p:cNvPicPr>
            <a:picLocks noChangeAspect="1"/>
          </p:cNvPicPr>
          <p:nvPr/>
        </p:nvPicPr>
        <p:blipFill>
          <a:blip r:embed="rId3"/>
          <a:stretch>
            <a:fillRect/>
          </a:stretch>
        </p:blipFill>
        <p:spPr>
          <a:xfrm>
            <a:off x="6096000" y="2799810"/>
            <a:ext cx="4745523" cy="3277677"/>
          </a:xfrm>
          <a:prstGeom prst="rect">
            <a:avLst/>
          </a:prstGeom>
        </p:spPr>
      </p:pic>
    </p:spTree>
    <p:extLst>
      <p:ext uri="{BB962C8B-B14F-4D97-AF65-F5344CB8AC3E}">
        <p14:creationId xmlns:p14="http://schemas.microsoft.com/office/powerpoint/2010/main" val="2272459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EF27-8619-0D3B-9FA3-CFD81AE172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F8398-7D36-2A5E-7F7A-0F99946A1002}"/>
              </a:ext>
            </a:extLst>
          </p:cNvPr>
          <p:cNvSpPr>
            <a:spLocks noGrp="1"/>
          </p:cNvSpPr>
          <p:nvPr>
            <p:ph type="title"/>
          </p:nvPr>
        </p:nvSpPr>
        <p:spPr/>
        <p:txBody>
          <a:bodyPr/>
          <a:lstStyle/>
          <a:p>
            <a:r>
              <a:rPr lang="en-US" dirty="0"/>
              <a:t>Predictive Classification — Results</a:t>
            </a:r>
            <a:endParaRPr lang="en-IN" dirty="0"/>
          </a:p>
        </p:txBody>
      </p:sp>
      <p:sp>
        <p:nvSpPr>
          <p:cNvPr id="3" name="Content Placeholder 2">
            <a:extLst>
              <a:ext uri="{FF2B5EF4-FFF2-40B4-BE49-F238E27FC236}">
                <a16:creationId xmlns:a16="http://schemas.microsoft.com/office/drawing/2014/main" id="{CE1D19EC-DFDD-BE21-B822-3E8B8043655F}"/>
              </a:ext>
            </a:extLst>
          </p:cNvPr>
          <p:cNvSpPr>
            <a:spLocks noGrp="1"/>
          </p:cNvSpPr>
          <p:nvPr>
            <p:ph idx="1"/>
          </p:nvPr>
        </p:nvSpPr>
        <p:spPr>
          <a:xfrm>
            <a:off x="678884" y="1675075"/>
            <a:ext cx="10834234" cy="61277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Best Model: Logistic Regression — Retrained on all 4,338 customers</a:t>
            </a:r>
          </a:p>
        </p:txBody>
      </p:sp>
      <p:pic>
        <p:nvPicPr>
          <p:cNvPr id="5" name="Picture 4" descr="A screenshot of a computer program&#10;&#10;AI-generated content may be incorrect.">
            <a:extLst>
              <a:ext uri="{FF2B5EF4-FFF2-40B4-BE49-F238E27FC236}">
                <a16:creationId xmlns:a16="http://schemas.microsoft.com/office/drawing/2014/main" id="{08015046-6419-353A-AB44-37F150F3079F}"/>
              </a:ext>
            </a:extLst>
          </p:cNvPr>
          <p:cNvPicPr>
            <a:picLocks noChangeAspect="1"/>
          </p:cNvPicPr>
          <p:nvPr/>
        </p:nvPicPr>
        <p:blipFill>
          <a:blip r:embed="rId2"/>
          <a:stretch>
            <a:fillRect/>
          </a:stretch>
        </p:blipFill>
        <p:spPr>
          <a:xfrm>
            <a:off x="590958" y="2287850"/>
            <a:ext cx="6456462" cy="3550242"/>
          </a:xfrm>
          <a:prstGeom prst="rect">
            <a:avLst/>
          </a:prstGeom>
        </p:spPr>
      </p:pic>
    </p:spTree>
    <p:extLst>
      <p:ext uri="{BB962C8B-B14F-4D97-AF65-F5344CB8AC3E}">
        <p14:creationId xmlns:p14="http://schemas.microsoft.com/office/powerpoint/2010/main" val="34883002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normAutofit fontScale="90000"/>
          </a:bodyPr>
          <a:lstStyle/>
          <a:p>
            <a:r>
              <a:rPr lang="en-US" b="1" dirty="0"/>
              <a:t>Actionable strategies per customer segment</a:t>
            </a: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a:lstStyle/>
          <a:p>
            <a:r>
              <a:rPr lang="en-US" dirty="0"/>
              <a:t>Quantifying customer behaviour through Recency, Frequency and Monetary analysis</a:t>
            </a:r>
          </a:p>
        </p:txBody>
      </p:sp>
    </p:spTree>
    <p:extLst>
      <p:ext uri="{BB962C8B-B14F-4D97-AF65-F5344CB8AC3E}">
        <p14:creationId xmlns:p14="http://schemas.microsoft.com/office/powerpoint/2010/main" val="1594365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3" y="410236"/>
            <a:ext cx="10834234" cy="612775"/>
          </a:xfrm>
        </p:spPr>
        <p:txBody>
          <a:bodyPr/>
          <a:lstStyle/>
          <a:p>
            <a:r>
              <a:rPr lang="en-US" dirty="0"/>
              <a:t>Business Recommendations</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3" y="1229967"/>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Champions (1,167 — 26.9%)</a:t>
            </a:r>
          </a:p>
          <a:p>
            <a:pPr lvl="1"/>
            <a:r>
              <a:rPr lang="en-US" dirty="0"/>
              <a:t>Loyalty programs, VIP memberships, early product access, referral incentives</a:t>
            </a:r>
          </a:p>
          <a:p>
            <a:pPr lvl="0"/>
            <a:r>
              <a:rPr lang="en-US" b="1" dirty="0"/>
              <a:t>Loyal Customers (721 — 16.6%)</a:t>
            </a:r>
          </a:p>
          <a:p>
            <a:pPr lvl="1"/>
            <a:r>
              <a:rPr lang="en-US" dirty="0"/>
              <a:t>Upsell higher value products, personalized recommendations, membership upgrades</a:t>
            </a:r>
          </a:p>
          <a:p>
            <a:pPr lvl="0"/>
            <a:r>
              <a:rPr lang="en-US" b="1" dirty="0"/>
              <a:t>At-Risk Customers (833 — 19.2%)</a:t>
            </a:r>
          </a:p>
          <a:p>
            <a:pPr lvl="1"/>
            <a:r>
              <a:rPr lang="en-US" dirty="0"/>
              <a:t>Win-back campaigns, limited-time discounts, personalised re-engagement emails</a:t>
            </a:r>
          </a:p>
          <a:p>
            <a:pPr lvl="0"/>
            <a:r>
              <a:rPr lang="en-US" b="1" dirty="0"/>
              <a:t>Lost Customers (1,617 — 37.3%)</a:t>
            </a:r>
          </a:p>
          <a:p>
            <a:pPr lvl="1"/>
            <a:r>
              <a:rPr lang="en-US" dirty="0"/>
              <a:t>Aggressive re-engagement, significant discounts, churn surveys, reduce spend</a:t>
            </a:r>
          </a:p>
        </p:txBody>
      </p:sp>
    </p:spTree>
    <p:extLst>
      <p:ext uri="{BB962C8B-B14F-4D97-AF65-F5344CB8AC3E}">
        <p14:creationId xmlns:p14="http://schemas.microsoft.com/office/powerpoint/2010/main" val="2272459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r>
              <a:rPr lang="en-US" b="1" dirty="0"/>
              <a:t>Deployment &amp; GitHub</a:t>
            </a: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a:lstStyle/>
          <a:p>
            <a:r>
              <a:rPr lang="en-US" dirty="0"/>
              <a:t>Streamlit app for real-time prediction and GitHub repository</a:t>
            </a:r>
          </a:p>
        </p:txBody>
      </p:sp>
      <p:pic>
        <p:nvPicPr>
          <p:cNvPr id="3" name="Picture 2">
            <a:extLst>
              <a:ext uri="{FF2B5EF4-FFF2-40B4-BE49-F238E27FC236}">
                <a16:creationId xmlns:a16="http://schemas.microsoft.com/office/drawing/2014/main" id="{DA26EC8F-56B2-5F8B-D393-F84BFE9651F1}"/>
              </a:ext>
            </a:extLst>
          </p:cNvPr>
          <p:cNvPicPr>
            <a:picLocks noChangeAspect="1"/>
          </p:cNvPicPr>
          <p:nvPr/>
        </p:nvPicPr>
        <p:blipFill>
          <a:blip r:embed="rId2"/>
          <a:stretch>
            <a:fillRect/>
          </a:stretch>
        </p:blipFill>
        <p:spPr>
          <a:xfrm>
            <a:off x="678882" y="2619012"/>
            <a:ext cx="6606750" cy="3298211"/>
          </a:xfrm>
          <a:prstGeom prst="rect">
            <a:avLst/>
          </a:prstGeom>
        </p:spPr>
      </p:pic>
    </p:spTree>
    <p:extLst>
      <p:ext uri="{BB962C8B-B14F-4D97-AF65-F5344CB8AC3E}">
        <p14:creationId xmlns:p14="http://schemas.microsoft.com/office/powerpoint/2010/main" val="1594365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Streamlit App &amp; Deployment</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3321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App Features</a:t>
            </a:r>
          </a:p>
          <a:p>
            <a:pPr lvl="1"/>
            <a:r>
              <a:rPr lang="en-US" dirty="0"/>
              <a:t>Single Customer Prediction: Enter R, F, M values → segment + confidence score</a:t>
            </a:r>
          </a:p>
          <a:p>
            <a:pPr lvl="1"/>
            <a:r>
              <a:rPr lang="en-US" dirty="0"/>
              <a:t>Bulk CSV Upload: Predict segments for multiple customers at once</a:t>
            </a:r>
          </a:p>
          <a:p>
            <a:pPr lvl="1"/>
            <a:r>
              <a:rPr lang="en-US" dirty="0"/>
              <a:t>Business recommendations displayed per predicted segment</a:t>
            </a:r>
          </a:p>
          <a:p>
            <a:pPr lvl="0"/>
            <a:r>
              <a:rPr lang="en-US" b="1" dirty="0"/>
              <a:t>Pipeline Architecture (src/ folder)</a:t>
            </a:r>
          </a:p>
          <a:p>
            <a:pPr lvl="1"/>
            <a:r>
              <a:rPr lang="en-US" dirty="0"/>
              <a:t>preprocessor.py  |  training.py  |  deployment.py  |  app.py</a:t>
            </a:r>
          </a:p>
          <a:p>
            <a:pPr lvl="0"/>
            <a:r>
              <a:rPr lang="en-US" b="1" dirty="0"/>
              <a:t>Deployed on Streamlit Cloud</a:t>
            </a:r>
          </a:p>
          <a:p>
            <a:pPr lvl="1"/>
            <a:r>
              <a:rPr lang="en-US" dirty="0"/>
              <a:t>GitHub: github.com/Sugnik27/</a:t>
            </a:r>
            <a:r>
              <a:rPr lang="en-US" dirty="0" err="1"/>
              <a:t>rfm</a:t>
            </a:r>
            <a:r>
              <a:rPr lang="en-US" dirty="0"/>
              <a:t>-customer-segmentation-ml</a:t>
            </a:r>
          </a:p>
        </p:txBody>
      </p:sp>
    </p:spTree>
    <p:extLst>
      <p:ext uri="{BB962C8B-B14F-4D97-AF65-F5344CB8AC3E}">
        <p14:creationId xmlns:p14="http://schemas.microsoft.com/office/powerpoint/2010/main" val="2272459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B3EA2-845B-5FA7-0FDB-D7D0331B3D5B}"/>
              </a:ext>
            </a:extLst>
          </p:cNvPr>
          <p:cNvSpPr>
            <a:spLocks noGrp="1"/>
          </p:cNvSpPr>
          <p:nvPr>
            <p:ph type="title"/>
          </p:nvPr>
        </p:nvSpPr>
        <p:spPr>
          <a:xfrm>
            <a:off x="441489" y="269558"/>
            <a:ext cx="5107239" cy="612775"/>
          </a:xfrm>
        </p:spPr>
        <p:txBody>
          <a:bodyPr/>
          <a:lstStyle/>
          <a:p>
            <a:r>
              <a:rPr lang="en-IN" dirty="0" err="1"/>
              <a:t>Streamlit</a:t>
            </a:r>
            <a:r>
              <a:rPr lang="en-IN" dirty="0"/>
              <a:t> App in Action</a:t>
            </a:r>
          </a:p>
        </p:txBody>
      </p:sp>
      <p:pic>
        <p:nvPicPr>
          <p:cNvPr id="5" name="Content Placeholder 4">
            <a:extLst>
              <a:ext uri="{FF2B5EF4-FFF2-40B4-BE49-F238E27FC236}">
                <a16:creationId xmlns:a16="http://schemas.microsoft.com/office/drawing/2014/main" id="{C6F353F7-80C4-714D-4F14-E19A6B147895}"/>
              </a:ext>
            </a:extLst>
          </p:cNvPr>
          <p:cNvPicPr>
            <a:picLocks noGrp="1" noChangeAspect="1"/>
          </p:cNvPicPr>
          <p:nvPr>
            <p:ph idx="1"/>
          </p:nvPr>
        </p:nvPicPr>
        <p:blipFill>
          <a:blip r:embed="rId2"/>
          <a:stretch>
            <a:fillRect/>
          </a:stretch>
        </p:blipFill>
        <p:spPr>
          <a:xfrm>
            <a:off x="441489" y="987643"/>
            <a:ext cx="4905722" cy="2441357"/>
          </a:xfrm>
          <a:prstGeom prst="rect">
            <a:avLst/>
          </a:prstGeom>
        </p:spPr>
      </p:pic>
      <p:pic>
        <p:nvPicPr>
          <p:cNvPr id="7" name="Picture 6">
            <a:extLst>
              <a:ext uri="{FF2B5EF4-FFF2-40B4-BE49-F238E27FC236}">
                <a16:creationId xmlns:a16="http://schemas.microsoft.com/office/drawing/2014/main" id="{870311A1-3AB8-CF36-FF01-9BCD1F82B51D}"/>
              </a:ext>
            </a:extLst>
          </p:cNvPr>
          <p:cNvPicPr>
            <a:picLocks noChangeAspect="1"/>
          </p:cNvPicPr>
          <p:nvPr/>
        </p:nvPicPr>
        <p:blipFill>
          <a:blip r:embed="rId3"/>
          <a:stretch>
            <a:fillRect/>
          </a:stretch>
        </p:blipFill>
        <p:spPr>
          <a:xfrm>
            <a:off x="451742" y="3624511"/>
            <a:ext cx="4905722" cy="2446470"/>
          </a:xfrm>
          <a:prstGeom prst="rect">
            <a:avLst/>
          </a:prstGeom>
        </p:spPr>
      </p:pic>
      <p:pic>
        <p:nvPicPr>
          <p:cNvPr id="9" name="Picture 8">
            <a:extLst>
              <a:ext uri="{FF2B5EF4-FFF2-40B4-BE49-F238E27FC236}">
                <a16:creationId xmlns:a16="http://schemas.microsoft.com/office/drawing/2014/main" id="{8D3680EB-F204-B450-4396-A4BEC15AF071}"/>
              </a:ext>
            </a:extLst>
          </p:cNvPr>
          <p:cNvPicPr>
            <a:picLocks noChangeAspect="1"/>
          </p:cNvPicPr>
          <p:nvPr/>
        </p:nvPicPr>
        <p:blipFill>
          <a:blip r:embed="rId4"/>
          <a:stretch>
            <a:fillRect/>
          </a:stretch>
        </p:blipFill>
        <p:spPr>
          <a:xfrm>
            <a:off x="6634481" y="987643"/>
            <a:ext cx="4905722" cy="2446470"/>
          </a:xfrm>
          <a:prstGeom prst="rect">
            <a:avLst/>
          </a:prstGeom>
        </p:spPr>
      </p:pic>
      <p:pic>
        <p:nvPicPr>
          <p:cNvPr id="11" name="Picture 10">
            <a:extLst>
              <a:ext uri="{FF2B5EF4-FFF2-40B4-BE49-F238E27FC236}">
                <a16:creationId xmlns:a16="http://schemas.microsoft.com/office/drawing/2014/main" id="{43AB6720-7F30-C485-55CF-5EB5BFA4D1DB}"/>
              </a:ext>
            </a:extLst>
          </p:cNvPr>
          <p:cNvPicPr>
            <a:picLocks noChangeAspect="1"/>
          </p:cNvPicPr>
          <p:nvPr/>
        </p:nvPicPr>
        <p:blipFill>
          <a:blip r:embed="rId5"/>
          <a:stretch>
            <a:fillRect/>
          </a:stretch>
        </p:blipFill>
        <p:spPr>
          <a:xfrm>
            <a:off x="6634482" y="3624511"/>
            <a:ext cx="4905721" cy="2446470"/>
          </a:xfrm>
          <a:prstGeom prst="rect">
            <a:avLst/>
          </a:prstGeom>
        </p:spPr>
      </p:pic>
    </p:spTree>
    <p:extLst>
      <p:ext uri="{BB962C8B-B14F-4D97-AF65-F5344CB8AC3E}">
        <p14:creationId xmlns:p14="http://schemas.microsoft.com/office/powerpoint/2010/main" val="1230744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normAutofit fontScale="90000"/>
          </a:bodyPr>
          <a:lstStyle/>
          <a:p>
            <a:r>
              <a:rPr lang="en-US" b="1" dirty="0"/>
              <a:t>Key takeaways and future improvements</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lstStyle/>
          <a:p>
            <a:r>
              <a:rPr lang="en-US" dirty="0"/>
              <a:t>Identifying four distinct customer groups using KMeans clustering</a:t>
            </a:r>
          </a:p>
        </p:txBody>
      </p:sp>
    </p:spTree>
    <p:extLst>
      <p:ext uri="{BB962C8B-B14F-4D97-AF65-F5344CB8AC3E}">
        <p14:creationId xmlns:p14="http://schemas.microsoft.com/office/powerpoint/2010/main" val="13444202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384929"/>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What We Achieved</a:t>
            </a:r>
          </a:p>
          <a:p>
            <a:pPr lvl="1"/>
            <a:r>
              <a:rPr lang="en-US" dirty="0"/>
              <a:t>Segmented 4,338 customers into 4 actionable groups using KMeans (Silhouette: 0.3373)</a:t>
            </a:r>
          </a:p>
          <a:p>
            <a:pPr lvl="1"/>
            <a:r>
              <a:rPr lang="en-US" dirty="0"/>
              <a:t>Logistic Regression: 99.65% F1 with no overfitting (CV F1: 99.31%)</a:t>
            </a:r>
          </a:p>
          <a:p>
            <a:pPr lvl="1"/>
            <a:r>
              <a:rPr lang="en-US" dirty="0"/>
              <a:t>Zero data leakage — split before scaling, scaler fitted on train data only</a:t>
            </a:r>
          </a:p>
          <a:p>
            <a:pPr lvl="1"/>
            <a:r>
              <a:rPr lang="en-US" dirty="0"/>
              <a:t>Deployed interactive Streamlit app with real-time prediction + GitHub repository</a:t>
            </a:r>
          </a:p>
          <a:p>
            <a:pPr lvl="0"/>
            <a:r>
              <a:rPr lang="en-US" b="1" dirty="0"/>
              <a:t>Future Improvements</a:t>
            </a:r>
          </a:p>
          <a:p>
            <a:pPr lvl="1"/>
            <a:r>
              <a:rPr lang="en-US" dirty="0"/>
              <a:t>Real-time pipeline connecting directly to live transaction databases</a:t>
            </a:r>
          </a:p>
          <a:p>
            <a:pPr lvl="1"/>
            <a:r>
              <a:rPr lang="en-US" dirty="0"/>
              <a:t>Customer Lifetime Value (CLV) prediction as an additional model output</a:t>
            </a:r>
          </a:p>
          <a:p>
            <a:pPr lvl="1"/>
            <a:r>
              <a:rPr lang="en-US" dirty="0"/>
              <a:t>A/B testing to measure impact of segment-based marketing campaigns</a:t>
            </a:r>
          </a:p>
        </p:txBody>
      </p:sp>
    </p:spTree>
    <p:extLst>
      <p:ext uri="{BB962C8B-B14F-4D97-AF65-F5344CB8AC3E}">
        <p14:creationId xmlns:p14="http://schemas.microsoft.com/office/powerpoint/2010/main" val="2272459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a:xfrm>
            <a:off x="3951614" y="932718"/>
            <a:ext cx="4288771" cy="2496282"/>
          </a:xfrm>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546350"/>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7179</TotalTime>
  <Words>1397</Words>
  <Application>Microsoft Office PowerPoint</Application>
  <PresentationFormat>Widescreen</PresentationFormat>
  <Paragraphs>239</Paragraphs>
  <Slides>33</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BIA Template</vt:lpstr>
      <vt:lpstr>PowerPoint Presentation</vt:lpstr>
      <vt:lpstr>Why did I choose this Topic?</vt:lpstr>
      <vt:lpstr>Agenda</vt:lpstr>
      <vt:lpstr>Project Overview &amp; Objectives</vt:lpstr>
      <vt:lpstr>Dataset &amp; Data Cleaning</vt:lpstr>
      <vt:lpstr>Dataset Overview</vt:lpstr>
      <vt:lpstr>Dataset Overview</vt:lpstr>
      <vt:lpstr>Data Cleaning</vt:lpstr>
      <vt:lpstr>Cleaning Result</vt:lpstr>
      <vt:lpstr>Exploratory Data Analysis</vt:lpstr>
      <vt:lpstr>EDA Performed ( Raw Data)</vt:lpstr>
      <vt:lpstr>EDA Performed ( Clean Data)</vt:lpstr>
      <vt:lpstr>EDA Performed ( Clean Data)</vt:lpstr>
      <vt:lpstr>EDA Performed ( Clean Data)</vt:lpstr>
      <vt:lpstr>EDA — Key Insights</vt:lpstr>
      <vt:lpstr>RFM Feature Engineering</vt:lpstr>
      <vt:lpstr>RFM Feature Engineering</vt:lpstr>
      <vt:lpstr>RFM Feature Engineering</vt:lpstr>
      <vt:lpstr>Customer Segmentation (Unsupervised ML)</vt:lpstr>
      <vt:lpstr>Customer Segmentation</vt:lpstr>
      <vt:lpstr>Customer Segmentation</vt:lpstr>
      <vt:lpstr>Predictive Classification (Supervised ML)</vt:lpstr>
      <vt:lpstr>Predictive Classification — Results</vt:lpstr>
      <vt:lpstr>Predictive Classification — Results</vt:lpstr>
      <vt:lpstr>Actionable strategies per customer segment</vt:lpstr>
      <vt:lpstr>Business Recommendations</vt:lpstr>
      <vt:lpstr>Deployment &amp; GitHub</vt:lpstr>
      <vt:lpstr>Streamlit App &amp; Deployment</vt:lpstr>
      <vt:lpstr>Streamlit App in Action</vt:lpstr>
      <vt:lpstr>Key takeaways and future improvements</vt:lpstr>
      <vt:lpstr>Conclusion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Sugnik Mondal</cp:lastModifiedBy>
  <cp:revision>2271</cp:revision>
  <dcterms:created xsi:type="dcterms:W3CDTF">2020-12-23T13:36:00Z</dcterms:created>
  <dcterms:modified xsi:type="dcterms:W3CDTF">2026-03-01T07:58:22Z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